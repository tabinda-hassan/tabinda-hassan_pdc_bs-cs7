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Archivo Black" charset="1" panose="020B0A03020202020B04"/>
      <p:regular r:id="rId30"/>
    </p:embeddedFont>
    <p:embeddedFont>
      <p:font typeface="HK Grotesk Bold" charset="1" panose="00000800000000000000"/>
      <p:regular r:id="rId31"/>
    </p:embeddedFont>
    <p:embeddedFont>
      <p:font typeface="HK Grotesk" charset="1" panose="000005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gradFill rotWithShape="true">
          <a:gsLst>
            <a:gs pos="0">
              <a:srgbClr val="000000">
                <a:alpha val="100000"/>
              </a:srgbClr>
            </a:gs>
            <a:gs pos="50000">
              <a:srgbClr val="082D2F">
                <a:alpha val="100000"/>
              </a:srgbClr>
            </a:gs>
            <a:gs pos="100000">
              <a:srgbClr val="28949C">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1028700" y="3994843"/>
            <a:ext cx="16127451" cy="3421594"/>
          </a:xfrm>
          <a:prstGeom prst="rect">
            <a:avLst/>
          </a:prstGeom>
        </p:spPr>
        <p:txBody>
          <a:bodyPr anchor="t" rtlCol="false" tIns="0" lIns="0" bIns="0" rIns="0">
            <a:spAutoFit/>
          </a:bodyPr>
          <a:lstStyle/>
          <a:p>
            <a:pPr algn="ctr">
              <a:lnSpc>
                <a:spcPts val="6642"/>
              </a:lnSpc>
            </a:pPr>
            <a:r>
              <a:rPr lang="en-US" sz="7298">
                <a:solidFill>
                  <a:srgbClr val="FFFFFF"/>
                </a:solidFill>
                <a:latin typeface="Archivo Black"/>
                <a:ea typeface="Archivo Black"/>
                <a:cs typeface="Archivo Black"/>
                <a:sym typeface="Archivo Black"/>
              </a:rPr>
              <a:t>USING PARALLELISM TO DETECT CYBER ATTACKS IN REAL TIME</a:t>
            </a:r>
          </a:p>
          <a:p>
            <a:pPr algn="ctr">
              <a:lnSpc>
                <a:spcPts val="6642"/>
              </a:lnSpc>
            </a:pPr>
          </a:p>
        </p:txBody>
      </p:sp>
      <p:grpSp>
        <p:nvGrpSpPr>
          <p:cNvPr name="Group 3" id="3"/>
          <p:cNvGrpSpPr/>
          <p:nvPr/>
        </p:nvGrpSpPr>
        <p:grpSpPr>
          <a:xfrm rot="-10800000">
            <a:off x="11348756" y="2426287"/>
            <a:ext cx="2711833" cy="197291"/>
            <a:chOff x="0" y="0"/>
            <a:chExt cx="952142" cy="69270"/>
          </a:xfrm>
        </p:grpSpPr>
        <p:sp>
          <p:nvSpPr>
            <p:cNvPr name="Freeform 4" id="4"/>
            <p:cNvSpPr/>
            <p:nvPr/>
          </p:nvSpPr>
          <p:spPr>
            <a:xfrm flipH="false" flipV="false" rot="0">
              <a:off x="0" y="0"/>
              <a:ext cx="952142" cy="69270"/>
            </a:xfrm>
            <a:custGeom>
              <a:avLst/>
              <a:gdLst/>
              <a:ahLst/>
              <a:cxnLst/>
              <a:rect r="r" b="b" t="t" l="l"/>
              <a:pathLst>
                <a:path h="69270" w="952142">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true">
              <a:gsLst>
                <a:gs pos="0">
                  <a:srgbClr val="65CED1">
                    <a:alpha val="100000"/>
                  </a:srgbClr>
                </a:gs>
                <a:gs pos="100000">
                  <a:srgbClr val="000000">
                    <a:alpha val="100000"/>
                  </a:srgbClr>
                </a:gs>
              </a:gsLst>
              <a:lin ang="2700000"/>
            </a:gradFill>
          </p:spPr>
        </p:sp>
        <p:sp>
          <p:nvSpPr>
            <p:cNvPr name="TextBox 5" id="5"/>
            <p:cNvSpPr txBox="true"/>
            <p:nvPr/>
          </p:nvSpPr>
          <p:spPr>
            <a:xfrm>
              <a:off x="0" y="-57150"/>
              <a:ext cx="952142" cy="126420"/>
            </a:xfrm>
            <a:prstGeom prst="rect">
              <a:avLst/>
            </a:prstGeom>
          </p:spPr>
          <p:txBody>
            <a:bodyPr anchor="ctr" rtlCol="false" tIns="50800" lIns="50800" bIns="50800" rIns="50800"/>
            <a:lstStyle/>
            <a:p>
              <a:pPr algn="ctr">
                <a:lnSpc>
                  <a:spcPts val="3447"/>
                </a:lnSpc>
              </a:pPr>
            </a:p>
          </p:txBody>
        </p:sp>
      </p:grpSp>
      <p:grpSp>
        <p:nvGrpSpPr>
          <p:cNvPr name="Group 6" id="6"/>
          <p:cNvGrpSpPr/>
          <p:nvPr/>
        </p:nvGrpSpPr>
        <p:grpSpPr>
          <a:xfrm rot="-10800000">
            <a:off x="10388194" y="1971777"/>
            <a:ext cx="2711833" cy="197291"/>
            <a:chOff x="0" y="0"/>
            <a:chExt cx="952142" cy="69270"/>
          </a:xfrm>
        </p:grpSpPr>
        <p:sp>
          <p:nvSpPr>
            <p:cNvPr name="Freeform 7" id="7"/>
            <p:cNvSpPr/>
            <p:nvPr/>
          </p:nvSpPr>
          <p:spPr>
            <a:xfrm flipH="false" flipV="false" rot="0">
              <a:off x="0" y="0"/>
              <a:ext cx="952142" cy="69270"/>
            </a:xfrm>
            <a:custGeom>
              <a:avLst/>
              <a:gdLst/>
              <a:ahLst/>
              <a:cxnLst/>
              <a:rect r="r" b="b" t="t" l="l"/>
              <a:pathLst>
                <a:path h="69270" w="952142">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true">
              <a:gsLst>
                <a:gs pos="0">
                  <a:srgbClr val="65CED1">
                    <a:alpha val="100000"/>
                  </a:srgbClr>
                </a:gs>
                <a:gs pos="100000">
                  <a:srgbClr val="000000">
                    <a:alpha val="100000"/>
                  </a:srgbClr>
                </a:gs>
              </a:gsLst>
              <a:lin ang="2700000"/>
            </a:gradFill>
          </p:spPr>
        </p:sp>
        <p:sp>
          <p:nvSpPr>
            <p:cNvPr name="TextBox 8" id="8"/>
            <p:cNvSpPr txBox="true"/>
            <p:nvPr/>
          </p:nvSpPr>
          <p:spPr>
            <a:xfrm>
              <a:off x="0" y="-57150"/>
              <a:ext cx="952142" cy="126420"/>
            </a:xfrm>
            <a:prstGeom prst="rect">
              <a:avLst/>
            </a:prstGeom>
          </p:spPr>
          <p:txBody>
            <a:bodyPr anchor="ctr" rtlCol="false" tIns="50800" lIns="50800" bIns="50800" rIns="50800"/>
            <a:lstStyle/>
            <a:p>
              <a:pPr algn="ctr">
                <a:lnSpc>
                  <a:spcPts val="3447"/>
                </a:lnSpc>
              </a:pPr>
            </a:p>
          </p:txBody>
        </p:sp>
      </p:grpSp>
      <p:grpSp>
        <p:nvGrpSpPr>
          <p:cNvPr name="Group 9" id="9"/>
          <p:cNvGrpSpPr/>
          <p:nvPr/>
        </p:nvGrpSpPr>
        <p:grpSpPr>
          <a:xfrm rot="0">
            <a:off x="4248305" y="7673612"/>
            <a:ext cx="2669433" cy="194207"/>
            <a:chOff x="0" y="0"/>
            <a:chExt cx="952142" cy="69270"/>
          </a:xfrm>
        </p:grpSpPr>
        <p:sp>
          <p:nvSpPr>
            <p:cNvPr name="Freeform 10" id="10"/>
            <p:cNvSpPr/>
            <p:nvPr/>
          </p:nvSpPr>
          <p:spPr>
            <a:xfrm flipH="false" flipV="false" rot="0">
              <a:off x="0" y="0"/>
              <a:ext cx="952142" cy="69270"/>
            </a:xfrm>
            <a:custGeom>
              <a:avLst/>
              <a:gdLst/>
              <a:ahLst/>
              <a:cxnLst/>
              <a:rect r="r" b="b" t="t" l="l"/>
              <a:pathLst>
                <a:path h="69270" w="952142">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true">
              <a:gsLst>
                <a:gs pos="0">
                  <a:srgbClr val="65CED1">
                    <a:alpha val="100000"/>
                  </a:srgbClr>
                </a:gs>
                <a:gs pos="100000">
                  <a:srgbClr val="000000">
                    <a:alpha val="100000"/>
                  </a:srgbClr>
                </a:gs>
              </a:gsLst>
              <a:lin ang="2700000"/>
            </a:gradFill>
          </p:spPr>
        </p:sp>
        <p:sp>
          <p:nvSpPr>
            <p:cNvPr name="TextBox 11" id="11"/>
            <p:cNvSpPr txBox="true"/>
            <p:nvPr/>
          </p:nvSpPr>
          <p:spPr>
            <a:xfrm>
              <a:off x="0" y="-57150"/>
              <a:ext cx="952142" cy="126420"/>
            </a:xfrm>
            <a:prstGeom prst="rect">
              <a:avLst/>
            </a:prstGeom>
          </p:spPr>
          <p:txBody>
            <a:bodyPr anchor="ctr" rtlCol="false" tIns="50800" lIns="50800" bIns="50800" rIns="50800"/>
            <a:lstStyle/>
            <a:p>
              <a:pPr algn="ctr">
                <a:lnSpc>
                  <a:spcPts val="3447"/>
                </a:lnSpc>
              </a:pPr>
            </a:p>
          </p:txBody>
        </p:sp>
      </p:grpSp>
      <p:grpSp>
        <p:nvGrpSpPr>
          <p:cNvPr name="Group 12" id="12"/>
          <p:cNvGrpSpPr/>
          <p:nvPr/>
        </p:nvGrpSpPr>
        <p:grpSpPr>
          <a:xfrm rot="0">
            <a:off x="5193848" y="8121016"/>
            <a:ext cx="2669433" cy="194207"/>
            <a:chOff x="0" y="0"/>
            <a:chExt cx="952142" cy="69270"/>
          </a:xfrm>
        </p:grpSpPr>
        <p:sp>
          <p:nvSpPr>
            <p:cNvPr name="Freeform 13" id="13"/>
            <p:cNvSpPr/>
            <p:nvPr/>
          </p:nvSpPr>
          <p:spPr>
            <a:xfrm flipH="false" flipV="false" rot="0">
              <a:off x="0" y="0"/>
              <a:ext cx="952142" cy="69270"/>
            </a:xfrm>
            <a:custGeom>
              <a:avLst/>
              <a:gdLst/>
              <a:ahLst/>
              <a:cxnLst/>
              <a:rect r="r" b="b" t="t" l="l"/>
              <a:pathLst>
                <a:path h="69270" w="952142">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true">
              <a:gsLst>
                <a:gs pos="0">
                  <a:srgbClr val="65CED1">
                    <a:alpha val="100000"/>
                  </a:srgbClr>
                </a:gs>
                <a:gs pos="100000">
                  <a:srgbClr val="000000">
                    <a:alpha val="100000"/>
                  </a:srgbClr>
                </a:gs>
              </a:gsLst>
              <a:lin ang="2700000"/>
            </a:gradFill>
          </p:spPr>
        </p:sp>
        <p:sp>
          <p:nvSpPr>
            <p:cNvPr name="TextBox 14" id="14"/>
            <p:cNvSpPr txBox="true"/>
            <p:nvPr/>
          </p:nvSpPr>
          <p:spPr>
            <a:xfrm>
              <a:off x="0" y="-57150"/>
              <a:ext cx="952142" cy="126420"/>
            </a:xfrm>
            <a:prstGeom prst="rect">
              <a:avLst/>
            </a:prstGeom>
          </p:spPr>
          <p:txBody>
            <a:bodyPr anchor="ctr" rtlCol="false" tIns="50800" lIns="50800" bIns="50800" rIns="50800"/>
            <a:lstStyle/>
            <a:p>
              <a:pPr algn="ctr">
                <a:lnSpc>
                  <a:spcPts val="3447"/>
                </a:lnSpc>
              </a:pPr>
            </a:p>
          </p:txBody>
        </p:sp>
      </p:grpSp>
      <p:sp>
        <p:nvSpPr>
          <p:cNvPr name="TextBox 15" id="15"/>
          <p:cNvSpPr txBox="true"/>
          <p:nvPr/>
        </p:nvSpPr>
        <p:spPr>
          <a:xfrm rot="0">
            <a:off x="7730782" y="6909072"/>
            <a:ext cx="4636225" cy="1471930"/>
          </a:xfrm>
          <a:prstGeom prst="rect">
            <a:avLst/>
          </a:prstGeom>
        </p:spPr>
        <p:txBody>
          <a:bodyPr anchor="t" rtlCol="false" tIns="0" lIns="0" bIns="0" rIns="0">
            <a:spAutoFit/>
          </a:bodyPr>
          <a:lstStyle/>
          <a:p>
            <a:pPr algn="l">
              <a:lnSpc>
                <a:spcPts val="3919"/>
              </a:lnSpc>
            </a:pPr>
            <a:r>
              <a:rPr lang="en-US" sz="2799" spc="167" b="true">
                <a:solidFill>
                  <a:srgbClr val="FFFFFF"/>
                </a:solidFill>
                <a:latin typeface="HK Grotesk Bold"/>
                <a:ea typeface="HK Grotesk Bold"/>
                <a:cs typeface="HK Grotesk Bold"/>
                <a:sym typeface="HK Grotesk Bold"/>
              </a:rPr>
              <a:t>Presentated By:</a:t>
            </a:r>
          </a:p>
          <a:p>
            <a:pPr algn="l">
              <a:lnSpc>
                <a:spcPts val="3919"/>
              </a:lnSpc>
            </a:pPr>
            <a:r>
              <a:rPr lang="en-US" sz="2799" spc="167" b="true">
                <a:solidFill>
                  <a:srgbClr val="FFFFFF"/>
                </a:solidFill>
                <a:latin typeface="HK Grotesk Bold"/>
                <a:ea typeface="HK Grotesk Bold"/>
                <a:cs typeface="HK Grotesk Bold"/>
                <a:sym typeface="HK Grotesk Bold"/>
              </a:rPr>
              <a:t>Hajira Imran (44594)</a:t>
            </a:r>
          </a:p>
          <a:p>
            <a:pPr algn="l">
              <a:lnSpc>
                <a:spcPts val="3919"/>
              </a:lnSpc>
              <a:spcBef>
                <a:spcPct val="0"/>
              </a:spcBef>
            </a:pPr>
            <a:r>
              <a:rPr lang="en-US" b="true" sz="2799" spc="167">
                <a:solidFill>
                  <a:srgbClr val="FFFFFF"/>
                </a:solidFill>
                <a:latin typeface="HK Grotesk Bold"/>
                <a:ea typeface="HK Grotesk Bold"/>
                <a:cs typeface="HK Grotesk Bold"/>
                <a:sym typeface="HK Grotesk Bold"/>
              </a:rPr>
              <a:t>Tabinda Hassan (46374)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25" y="8141930"/>
            <a:ext cx="18277775" cy="2145070"/>
            <a:chOff x="0" y="0"/>
            <a:chExt cx="4813900" cy="564957"/>
          </a:xfrm>
        </p:grpSpPr>
        <p:sp>
          <p:nvSpPr>
            <p:cNvPr name="Freeform 3" id="3"/>
            <p:cNvSpPr/>
            <p:nvPr/>
          </p:nvSpPr>
          <p:spPr>
            <a:xfrm flipH="false" flipV="false" rot="0">
              <a:off x="0" y="0"/>
              <a:ext cx="4813900" cy="564957"/>
            </a:xfrm>
            <a:custGeom>
              <a:avLst/>
              <a:gdLst/>
              <a:ahLst/>
              <a:cxnLst/>
              <a:rect r="r" b="b" t="t" l="l"/>
              <a:pathLst>
                <a:path h="564957" w="4813900">
                  <a:moveTo>
                    <a:pt x="0" y="0"/>
                  </a:moveTo>
                  <a:lnTo>
                    <a:pt x="4813900" y="0"/>
                  </a:lnTo>
                  <a:lnTo>
                    <a:pt x="4813900" y="564957"/>
                  </a:lnTo>
                  <a:lnTo>
                    <a:pt x="0" y="564957"/>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4813900" cy="622107"/>
            </a:xfrm>
            <a:prstGeom prst="rect">
              <a:avLst/>
            </a:prstGeom>
          </p:spPr>
          <p:txBody>
            <a:bodyPr anchor="ctr" rtlCol="false" tIns="50800" lIns="50800" bIns="50800" rIns="50800"/>
            <a:lstStyle/>
            <a:p>
              <a:pPr algn="ctr" marL="0" indent="0" lvl="0">
                <a:lnSpc>
                  <a:spcPts val="3447"/>
                </a:lnSpc>
                <a:spcBef>
                  <a:spcPct val="0"/>
                </a:spcBef>
              </a:pPr>
            </a:p>
          </p:txBody>
        </p:sp>
      </p:grpSp>
      <p:grpSp>
        <p:nvGrpSpPr>
          <p:cNvPr name="Group 5" id="5"/>
          <p:cNvGrpSpPr/>
          <p:nvPr/>
        </p:nvGrpSpPr>
        <p:grpSpPr>
          <a:xfrm rot="0">
            <a:off x="11683654" y="1445485"/>
            <a:ext cx="5781302" cy="7812815"/>
            <a:chOff x="0" y="0"/>
            <a:chExt cx="895675" cy="1210409"/>
          </a:xfrm>
        </p:grpSpPr>
        <p:sp>
          <p:nvSpPr>
            <p:cNvPr name="Freeform 6" id="6"/>
            <p:cNvSpPr/>
            <p:nvPr/>
          </p:nvSpPr>
          <p:spPr>
            <a:xfrm flipH="false" flipV="false" rot="0">
              <a:off x="0" y="0"/>
              <a:ext cx="895675" cy="1210409"/>
            </a:xfrm>
            <a:custGeom>
              <a:avLst/>
              <a:gdLst/>
              <a:ahLst/>
              <a:cxnLst/>
              <a:rect r="r" b="b" t="t" l="l"/>
              <a:pathLst>
                <a:path h="1210409" w="895675">
                  <a:moveTo>
                    <a:pt x="79009" y="0"/>
                  </a:moveTo>
                  <a:lnTo>
                    <a:pt x="816666" y="0"/>
                  </a:lnTo>
                  <a:cubicBezTo>
                    <a:pt x="837621" y="0"/>
                    <a:pt x="857717" y="8324"/>
                    <a:pt x="872534" y="23141"/>
                  </a:cubicBezTo>
                  <a:cubicBezTo>
                    <a:pt x="887351" y="37958"/>
                    <a:pt x="895675" y="58054"/>
                    <a:pt x="895675" y="79009"/>
                  </a:cubicBezTo>
                  <a:lnTo>
                    <a:pt x="895675" y="1131401"/>
                  </a:lnTo>
                  <a:cubicBezTo>
                    <a:pt x="895675" y="1152355"/>
                    <a:pt x="887351" y="1172451"/>
                    <a:pt x="872534" y="1187268"/>
                  </a:cubicBezTo>
                  <a:cubicBezTo>
                    <a:pt x="857717" y="1202085"/>
                    <a:pt x="837621" y="1210409"/>
                    <a:pt x="816666" y="1210409"/>
                  </a:cubicBezTo>
                  <a:lnTo>
                    <a:pt x="79009" y="1210409"/>
                  </a:lnTo>
                  <a:cubicBezTo>
                    <a:pt x="58054" y="1210409"/>
                    <a:pt x="37958" y="1202085"/>
                    <a:pt x="23141" y="1187268"/>
                  </a:cubicBezTo>
                  <a:cubicBezTo>
                    <a:pt x="8324" y="1172451"/>
                    <a:pt x="0" y="1152355"/>
                    <a:pt x="0" y="1131401"/>
                  </a:cubicBezTo>
                  <a:lnTo>
                    <a:pt x="0" y="79009"/>
                  </a:lnTo>
                  <a:cubicBezTo>
                    <a:pt x="0" y="58054"/>
                    <a:pt x="8324" y="37958"/>
                    <a:pt x="23141" y="23141"/>
                  </a:cubicBezTo>
                  <a:cubicBezTo>
                    <a:pt x="37958" y="8324"/>
                    <a:pt x="58054" y="0"/>
                    <a:pt x="79009" y="0"/>
                  </a:cubicBezTo>
                  <a:close/>
                </a:path>
              </a:pathLst>
            </a:custGeom>
            <a:blipFill>
              <a:blip r:embed="rId2"/>
              <a:stretch>
                <a:fillRect l="-22063" t="0" r="-22063" b="0"/>
              </a:stretch>
            </a:blipFill>
          </p:spPr>
        </p:sp>
      </p:grpSp>
      <p:sp>
        <p:nvSpPr>
          <p:cNvPr name="TextBox 7" id="7"/>
          <p:cNvSpPr txBox="true"/>
          <p:nvPr/>
        </p:nvSpPr>
        <p:spPr>
          <a:xfrm rot="0">
            <a:off x="581862" y="581098"/>
            <a:ext cx="8773902" cy="933304"/>
          </a:xfrm>
          <a:prstGeom prst="rect">
            <a:avLst/>
          </a:prstGeom>
        </p:spPr>
        <p:txBody>
          <a:bodyPr anchor="t" rtlCol="false" tIns="0" lIns="0" bIns="0" rIns="0">
            <a:spAutoFit/>
          </a:bodyPr>
          <a:lstStyle/>
          <a:p>
            <a:pPr algn="l">
              <a:lnSpc>
                <a:spcPts val="7245"/>
              </a:lnSpc>
            </a:pPr>
            <a:r>
              <a:rPr lang="en-US" sz="6412">
                <a:gradFill>
                  <a:gsLst>
                    <a:gs pos="0">
                      <a:srgbClr val="000000">
                        <a:alpha val="100000"/>
                      </a:srgbClr>
                    </a:gs>
                    <a:gs pos="50000">
                      <a:srgbClr val="082D2F">
                        <a:alpha val="100000"/>
                      </a:srgbClr>
                    </a:gs>
                    <a:gs pos="100000">
                      <a:srgbClr val="28949C">
                        <a:alpha val="100000"/>
                      </a:srgbClr>
                    </a:gs>
                  </a:gsLst>
                  <a:path path="circle">
                    <a:fillToRect l="50000" r="50000" t="50000" b="50000"/>
                  </a:path>
                </a:gradFill>
                <a:latin typeface="Archivo Black"/>
                <a:ea typeface="Archivo Black"/>
                <a:cs typeface="Archivo Black"/>
                <a:sym typeface="Archivo Black"/>
              </a:rPr>
              <a:t>Introduction</a:t>
            </a:r>
          </a:p>
        </p:txBody>
      </p:sp>
      <p:sp>
        <p:nvSpPr>
          <p:cNvPr name="TextBox 8" id="8"/>
          <p:cNvSpPr txBox="true"/>
          <p:nvPr/>
        </p:nvSpPr>
        <p:spPr>
          <a:xfrm rot="0">
            <a:off x="581862" y="1804721"/>
            <a:ext cx="10491276" cy="7037194"/>
          </a:xfrm>
          <a:prstGeom prst="rect">
            <a:avLst/>
          </a:prstGeom>
        </p:spPr>
        <p:txBody>
          <a:bodyPr anchor="t" rtlCol="false" tIns="0" lIns="0" bIns="0" rIns="0">
            <a:spAutoFit/>
          </a:bodyPr>
          <a:lstStyle/>
          <a:p>
            <a:pPr algn="just">
              <a:lnSpc>
                <a:spcPts val="4298"/>
              </a:lnSpc>
            </a:pPr>
            <a:r>
              <a:rPr lang="en-US" sz="3070" spc="184">
                <a:solidFill>
                  <a:srgbClr val="000000"/>
                </a:solidFill>
                <a:latin typeface="HK Grotesk"/>
                <a:ea typeface="HK Grotesk"/>
                <a:cs typeface="HK Grotesk"/>
                <a:sym typeface="HK Grotesk"/>
              </a:rPr>
              <a:t>How are parallel computing techniques used to analyze massive amounts of network data in real time?</a:t>
            </a:r>
          </a:p>
          <a:p>
            <a:pPr algn="just">
              <a:lnSpc>
                <a:spcPts val="4298"/>
              </a:lnSpc>
            </a:pPr>
          </a:p>
          <a:p>
            <a:pPr algn="just">
              <a:lnSpc>
                <a:spcPts val="4298"/>
              </a:lnSpc>
            </a:pPr>
            <a:r>
              <a:rPr lang="en-US" b="true" sz="3070" spc="184">
                <a:solidFill>
                  <a:srgbClr val="000000"/>
                </a:solidFill>
                <a:latin typeface="HK Grotesk Bold"/>
                <a:ea typeface="HK Grotesk Bold"/>
                <a:cs typeface="HK Grotesk Bold"/>
                <a:sym typeface="HK Grotesk Bold"/>
              </a:rPr>
              <a:t>Why is it important today?</a:t>
            </a:r>
          </a:p>
          <a:p>
            <a:pPr algn="just" marL="662840" indent="-331420" lvl="1">
              <a:lnSpc>
                <a:spcPts val="4298"/>
              </a:lnSpc>
              <a:buFont typeface="Arial"/>
              <a:buChar char="•"/>
            </a:pPr>
            <a:r>
              <a:rPr lang="en-US" sz="3070" spc="184">
                <a:solidFill>
                  <a:srgbClr val="000000"/>
                </a:solidFill>
                <a:latin typeface="HK Grotesk"/>
                <a:ea typeface="HK Grotesk"/>
                <a:cs typeface="HK Grotesk"/>
                <a:sym typeface="HK Grotesk"/>
              </a:rPr>
              <a:t>Cyber attacks become faster, more automated, and complex.</a:t>
            </a:r>
          </a:p>
          <a:p>
            <a:pPr algn="just" marL="662840" indent="-331420" lvl="1">
              <a:lnSpc>
                <a:spcPts val="4298"/>
              </a:lnSpc>
              <a:buFont typeface="Arial"/>
              <a:buChar char="•"/>
            </a:pPr>
            <a:r>
              <a:rPr lang="en-US" sz="3070" spc="184">
                <a:solidFill>
                  <a:srgbClr val="000000"/>
                </a:solidFill>
                <a:latin typeface="HK Grotesk"/>
                <a:ea typeface="HK Grotesk"/>
                <a:cs typeface="HK Grotesk"/>
                <a:sym typeface="HK Grotesk"/>
              </a:rPr>
              <a:t>Modern networks produce huge volumes of data every second.</a:t>
            </a:r>
          </a:p>
          <a:p>
            <a:pPr algn="just" marL="662840" indent="-331420" lvl="1">
              <a:lnSpc>
                <a:spcPts val="4298"/>
              </a:lnSpc>
              <a:buFont typeface="Arial"/>
              <a:buChar char="•"/>
            </a:pPr>
            <a:r>
              <a:rPr lang="en-US" sz="3070" spc="184">
                <a:solidFill>
                  <a:srgbClr val="000000"/>
                </a:solidFill>
                <a:latin typeface="HK Grotesk"/>
                <a:ea typeface="HK Grotesk"/>
                <a:cs typeface="HK Grotesk"/>
                <a:sym typeface="HK Grotesk"/>
              </a:rPr>
              <a:t>Detecting threats instantly is critical for security, especially in finance, healthcare, and national defense.</a:t>
            </a:r>
          </a:p>
          <a:p>
            <a:pPr algn="just">
              <a:lnSpc>
                <a:spcPts val="4298"/>
              </a:lnSpc>
            </a:pPr>
          </a:p>
          <a:p>
            <a:pPr algn="just">
              <a:lnSpc>
                <a:spcPts val="4298"/>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225" y="8141930"/>
            <a:ext cx="18277775" cy="2145070"/>
            <a:chOff x="0" y="0"/>
            <a:chExt cx="4813900" cy="564957"/>
          </a:xfrm>
        </p:grpSpPr>
        <p:sp>
          <p:nvSpPr>
            <p:cNvPr name="Freeform 3" id="3"/>
            <p:cNvSpPr/>
            <p:nvPr/>
          </p:nvSpPr>
          <p:spPr>
            <a:xfrm flipH="false" flipV="false" rot="0">
              <a:off x="0" y="0"/>
              <a:ext cx="4813900" cy="564957"/>
            </a:xfrm>
            <a:custGeom>
              <a:avLst/>
              <a:gdLst/>
              <a:ahLst/>
              <a:cxnLst/>
              <a:rect r="r" b="b" t="t" l="l"/>
              <a:pathLst>
                <a:path h="564957" w="4813900">
                  <a:moveTo>
                    <a:pt x="0" y="0"/>
                  </a:moveTo>
                  <a:lnTo>
                    <a:pt x="4813900" y="0"/>
                  </a:lnTo>
                  <a:lnTo>
                    <a:pt x="4813900" y="564957"/>
                  </a:lnTo>
                  <a:lnTo>
                    <a:pt x="0" y="564957"/>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4813900" cy="622107"/>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5" id="5"/>
          <p:cNvSpPr txBox="true"/>
          <p:nvPr/>
        </p:nvSpPr>
        <p:spPr>
          <a:xfrm rot="0">
            <a:off x="1234443" y="843483"/>
            <a:ext cx="10440423" cy="790175"/>
          </a:xfrm>
          <a:prstGeom prst="rect">
            <a:avLst/>
          </a:prstGeom>
        </p:spPr>
        <p:txBody>
          <a:bodyPr anchor="t" rtlCol="false" tIns="0" lIns="0" bIns="0" rIns="0">
            <a:spAutoFit/>
          </a:bodyPr>
          <a:lstStyle/>
          <a:p>
            <a:pPr algn="l">
              <a:lnSpc>
                <a:spcPts val="6002"/>
              </a:lnSpc>
            </a:pPr>
            <a:r>
              <a:rPr lang="en-US" sz="5312">
                <a:gradFill>
                  <a:gsLst>
                    <a:gs pos="0">
                      <a:srgbClr val="65CED1">
                        <a:alpha val="100000"/>
                      </a:srgbClr>
                    </a:gs>
                    <a:gs pos="100000">
                      <a:srgbClr val="000000">
                        <a:alpha val="100000"/>
                      </a:srgbClr>
                    </a:gs>
                  </a:gsLst>
                  <a:lin ang="2700000"/>
                </a:gradFill>
                <a:latin typeface="Archivo Black"/>
                <a:ea typeface="Archivo Black"/>
                <a:cs typeface="Archivo Black"/>
                <a:sym typeface="Archivo Black"/>
              </a:rPr>
              <a:t>Link to Parallel Computing</a:t>
            </a:r>
          </a:p>
        </p:txBody>
      </p:sp>
      <p:sp>
        <p:nvSpPr>
          <p:cNvPr name="TextBox 6" id="6"/>
          <p:cNvSpPr txBox="true"/>
          <p:nvPr/>
        </p:nvSpPr>
        <p:spPr>
          <a:xfrm rot="0">
            <a:off x="720085" y="1798893"/>
            <a:ext cx="13144497" cy="6622539"/>
          </a:xfrm>
          <a:prstGeom prst="rect">
            <a:avLst/>
          </a:prstGeom>
        </p:spPr>
        <p:txBody>
          <a:bodyPr anchor="t" rtlCol="false" tIns="0" lIns="0" bIns="0" rIns="0">
            <a:spAutoFit/>
          </a:bodyPr>
          <a:lstStyle/>
          <a:p>
            <a:pPr algn="l" marL="749198" indent="-374599" lvl="1">
              <a:lnSpc>
                <a:spcPts val="4858"/>
              </a:lnSpc>
              <a:buFont typeface="Arial"/>
              <a:buChar char="•"/>
            </a:pPr>
            <a:r>
              <a:rPr lang="en-US" sz="3470" spc="208">
                <a:solidFill>
                  <a:srgbClr val="000000"/>
                </a:solidFill>
                <a:latin typeface="HK Grotesk"/>
                <a:ea typeface="HK Grotesk"/>
                <a:cs typeface="HK Grotesk"/>
                <a:sym typeface="HK Grotesk"/>
              </a:rPr>
              <a:t>Cyber attack detection needs extremely fast processing.</a:t>
            </a:r>
          </a:p>
          <a:p>
            <a:pPr algn="l" marL="749198" indent="-374599" lvl="1">
              <a:lnSpc>
                <a:spcPts val="4858"/>
              </a:lnSpc>
              <a:buFont typeface="Arial"/>
              <a:buChar char="•"/>
            </a:pPr>
            <a:r>
              <a:rPr lang="en-US" sz="3470" spc="208">
                <a:solidFill>
                  <a:srgbClr val="000000"/>
                </a:solidFill>
                <a:latin typeface="HK Grotesk"/>
                <a:ea typeface="HK Grotesk"/>
                <a:cs typeface="HK Grotesk"/>
                <a:sym typeface="HK Grotesk"/>
              </a:rPr>
              <a:t>Networks generate millions of events per second.</a:t>
            </a:r>
          </a:p>
          <a:p>
            <a:pPr algn="l" marL="749198" indent="-374599" lvl="1">
              <a:lnSpc>
                <a:spcPts val="4858"/>
              </a:lnSpc>
              <a:buFont typeface="Arial"/>
              <a:buChar char="•"/>
            </a:pPr>
            <a:r>
              <a:rPr lang="en-US" sz="3470" spc="208">
                <a:solidFill>
                  <a:srgbClr val="000000"/>
                </a:solidFill>
                <a:latin typeface="HK Grotesk"/>
                <a:ea typeface="HK Grotesk"/>
                <a:cs typeface="HK Grotesk"/>
                <a:sym typeface="HK Grotesk"/>
              </a:rPr>
              <a:t>A single processor cannot analyze all events in time.</a:t>
            </a:r>
          </a:p>
          <a:p>
            <a:pPr algn="l" marL="749198" indent="-374599" lvl="1">
              <a:lnSpc>
                <a:spcPts val="4858"/>
              </a:lnSpc>
              <a:buFont typeface="Arial"/>
              <a:buChar char="•"/>
            </a:pPr>
            <a:r>
              <a:rPr lang="en-US" sz="3470" spc="208">
                <a:solidFill>
                  <a:srgbClr val="000000"/>
                </a:solidFill>
                <a:latin typeface="HK Grotesk"/>
                <a:ea typeface="HK Grotesk"/>
                <a:cs typeface="HK Grotesk"/>
                <a:sym typeface="HK Grotesk"/>
              </a:rPr>
              <a:t>Parallel computing splits the workload across many processors.</a:t>
            </a:r>
          </a:p>
          <a:p>
            <a:pPr algn="l" marL="749198" indent="-374599" lvl="1">
              <a:lnSpc>
                <a:spcPts val="4858"/>
              </a:lnSpc>
              <a:buFont typeface="Arial"/>
              <a:buChar char="•"/>
            </a:pPr>
            <a:r>
              <a:rPr lang="en-US" sz="3470" spc="208">
                <a:solidFill>
                  <a:srgbClr val="000000"/>
                </a:solidFill>
                <a:latin typeface="HK Grotesk"/>
                <a:ea typeface="HK Grotesk"/>
                <a:cs typeface="HK Grotesk"/>
                <a:sym typeface="HK Grotesk"/>
              </a:rPr>
              <a:t>Distributed systems analyze data across multiple machines or nodes.</a:t>
            </a:r>
          </a:p>
          <a:p>
            <a:pPr algn="l" marL="749198" indent="-374599" lvl="1">
              <a:lnSpc>
                <a:spcPts val="4858"/>
              </a:lnSpc>
              <a:buFont typeface="Arial"/>
              <a:buChar char="•"/>
            </a:pPr>
            <a:r>
              <a:rPr lang="en-US" sz="3470" spc="208">
                <a:solidFill>
                  <a:srgbClr val="000000"/>
                </a:solidFill>
                <a:latin typeface="HK Grotesk"/>
                <a:ea typeface="HK Grotesk"/>
                <a:cs typeface="HK Grotesk"/>
                <a:sym typeface="HK Grotesk"/>
              </a:rPr>
              <a:t>Therefore, detecting cyber attacks is connected to parallel computing because it requires analyzing many events simultaneously.</a:t>
            </a:r>
          </a:p>
          <a:p>
            <a:pPr algn="l">
              <a:lnSpc>
                <a:spcPts val="4298"/>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3796" y="8141930"/>
            <a:ext cx="18606964" cy="2145070"/>
            <a:chOff x="0" y="0"/>
            <a:chExt cx="4900600" cy="564957"/>
          </a:xfrm>
        </p:grpSpPr>
        <p:sp>
          <p:nvSpPr>
            <p:cNvPr name="Freeform 3" id="3"/>
            <p:cNvSpPr/>
            <p:nvPr/>
          </p:nvSpPr>
          <p:spPr>
            <a:xfrm flipH="false" flipV="false" rot="0">
              <a:off x="0" y="0"/>
              <a:ext cx="4900600" cy="564957"/>
            </a:xfrm>
            <a:custGeom>
              <a:avLst/>
              <a:gdLst/>
              <a:ahLst/>
              <a:cxnLst/>
              <a:rect r="r" b="b" t="t" l="l"/>
              <a:pathLst>
                <a:path h="564957" w="4900600">
                  <a:moveTo>
                    <a:pt x="0" y="0"/>
                  </a:moveTo>
                  <a:lnTo>
                    <a:pt x="4900600" y="0"/>
                  </a:lnTo>
                  <a:lnTo>
                    <a:pt x="4900600" y="564957"/>
                  </a:lnTo>
                  <a:lnTo>
                    <a:pt x="0" y="564957"/>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4900600" cy="622107"/>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5" id="5"/>
          <p:cNvSpPr txBox="true"/>
          <p:nvPr/>
        </p:nvSpPr>
        <p:spPr>
          <a:xfrm rot="0">
            <a:off x="1028700" y="3994843"/>
            <a:ext cx="16127451" cy="3421594"/>
          </a:xfrm>
          <a:prstGeom prst="rect">
            <a:avLst/>
          </a:prstGeom>
        </p:spPr>
        <p:txBody>
          <a:bodyPr anchor="t" rtlCol="false" tIns="0" lIns="0" bIns="0" rIns="0">
            <a:spAutoFit/>
          </a:bodyPr>
          <a:lstStyle/>
          <a:p>
            <a:pPr algn="ctr">
              <a:lnSpc>
                <a:spcPts val="6642"/>
              </a:lnSpc>
            </a:pPr>
            <a:r>
              <a:rPr lang="en-US" sz="7298">
                <a:solidFill>
                  <a:srgbClr val="FFFFFF"/>
                </a:solidFill>
                <a:latin typeface="Archivo Black"/>
                <a:ea typeface="Archivo Black"/>
                <a:cs typeface="Archivo Black"/>
                <a:sym typeface="Archivo Black"/>
              </a:rPr>
              <a:t>USING PARALLELISM TO DETECT CYBER ATTACKS IN REAL TIME</a:t>
            </a:r>
          </a:p>
          <a:p>
            <a:pPr algn="ctr">
              <a:lnSpc>
                <a:spcPts val="6642"/>
              </a:lnSpc>
            </a:pPr>
          </a:p>
        </p:txBody>
      </p:sp>
      <p:sp>
        <p:nvSpPr>
          <p:cNvPr name="TextBox 6" id="6"/>
          <p:cNvSpPr txBox="true"/>
          <p:nvPr/>
        </p:nvSpPr>
        <p:spPr>
          <a:xfrm rot="0">
            <a:off x="1028700" y="3994843"/>
            <a:ext cx="16127451" cy="1745194"/>
          </a:xfrm>
          <a:prstGeom prst="rect">
            <a:avLst/>
          </a:prstGeom>
        </p:spPr>
        <p:txBody>
          <a:bodyPr anchor="t" rtlCol="false" tIns="0" lIns="0" bIns="0" rIns="0">
            <a:spAutoFit/>
          </a:bodyPr>
          <a:lstStyle/>
          <a:p>
            <a:pPr algn="ctr">
              <a:lnSpc>
                <a:spcPts val="6642"/>
              </a:lnSpc>
            </a:pPr>
            <a:r>
              <a:rPr lang="en-US" sz="7298">
                <a:gradFill>
                  <a:gsLst>
                    <a:gs pos="0">
                      <a:srgbClr val="000000">
                        <a:alpha val="100000"/>
                      </a:srgbClr>
                    </a:gs>
                    <a:gs pos="50000">
                      <a:srgbClr val="082D2F">
                        <a:alpha val="100000"/>
                      </a:srgbClr>
                    </a:gs>
                    <a:gs pos="100000">
                      <a:srgbClr val="28949C">
                        <a:alpha val="100000"/>
                      </a:srgbClr>
                    </a:gs>
                  </a:gsLst>
                  <a:path path="circle">
                    <a:fillToRect l="50000" r="50000" t="50000" b="50000"/>
                  </a:path>
                </a:gradFill>
                <a:latin typeface="Archivo Black"/>
                <a:ea typeface="Archivo Black"/>
                <a:cs typeface="Archivo Black"/>
                <a:sym typeface="Archivo Black"/>
              </a:rPr>
              <a:t>BACKGROUND/CORE CONCEPTS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0"/>
            <a:ext cx="1028700" cy="10287000"/>
            <a:chOff x="0" y="0"/>
            <a:chExt cx="270933" cy="2709333"/>
          </a:xfrm>
        </p:grpSpPr>
        <p:sp>
          <p:nvSpPr>
            <p:cNvPr name="Freeform 3" id="3"/>
            <p:cNvSpPr/>
            <p:nvPr/>
          </p:nvSpPr>
          <p:spPr>
            <a:xfrm flipH="false" flipV="false" rot="0">
              <a:off x="0" y="0"/>
              <a:ext cx="270933" cy="2709333"/>
            </a:xfrm>
            <a:custGeom>
              <a:avLst/>
              <a:gdLst/>
              <a:ahLst/>
              <a:cxnLst/>
              <a:rect r="r" b="b" t="t" l="l"/>
              <a:pathLst>
                <a:path h="2709333" w="270933">
                  <a:moveTo>
                    <a:pt x="0" y="0"/>
                  </a:moveTo>
                  <a:lnTo>
                    <a:pt x="270933" y="0"/>
                  </a:lnTo>
                  <a:lnTo>
                    <a:pt x="270933" y="2709333"/>
                  </a:lnTo>
                  <a:lnTo>
                    <a:pt x="0" y="2709333"/>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270933" cy="2766483"/>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5" id="5"/>
          <p:cNvSpPr txBox="true"/>
          <p:nvPr/>
        </p:nvSpPr>
        <p:spPr>
          <a:xfrm rot="0">
            <a:off x="514342" y="2582242"/>
            <a:ext cx="10881322" cy="6016114"/>
          </a:xfrm>
          <a:prstGeom prst="rect">
            <a:avLst/>
          </a:prstGeom>
        </p:spPr>
        <p:txBody>
          <a:bodyPr anchor="t" rtlCol="false" tIns="0" lIns="0" bIns="0" rIns="0">
            <a:spAutoFit/>
          </a:bodyPr>
          <a:lstStyle/>
          <a:p>
            <a:pPr algn="l" marL="857145" indent="-428573" lvl="1">
              <a:lnSpc>
                <a:spcPts val="5558"/>
              </a:lnSpc>
              <a:buFont typeface="Arial"/>
              <a:buChar char="•"/>
            </a:pPr>
            <a:r>
              <a:rPr lang="en-US" sz="3970" spc="238">
                <a:solidFill>
                  <a:srgbClr val="000000"/>
                </a:solidFill>
                <a:latin typeface="HK Grotesk"/>
                <a:ea typeface="HK Grotesk"/>
                <a:cs typeface="HK Grotesk"/>
                <a:sym typeface="HK Grotesk"/>
              </a:rPr>
              <a:t>Cyber Attack: Any attempt to damage, steal, or disrupt a computer system.</a:t>
            </a:r>
          </a:p>
          <a:p>
            <a:pPr algn="l" marL="857145" indent="-428573" lvl="1">
              <a:lnSpc>
                <a:spcPts val="5558"/>
              </a:lnSpc>
              <a:buFont typeface="Arial"/>
              <a:buChar char="•"/>
            </a:pPr>
            <a:r>
              <a:rPr lang="en-US" sz="3970" spc="238">
                <a:solidFill>
                  <a:srgbClr val="000000"/>
                </a:solidFill>
                <a:latin typeface="HK Grotesk"/>
                <a:ea typeface="HK Grotesk"/>
                <a:cs typeface="HK Grotesk"/>
                <a:sym typeface="HK Grotesk"/>
              </a:rPr>
              <a:t>Network Traffic: All data packets moving through a network.</a:t>
            </a:r>
          </a:p>
          <a:p>
            <a:pPr algn="l" marL="857145" indent="-428573" lvl="1">
              <a:lnSpc>
                <a:spcPts val="5558"/>
              </a:lnSpc>
              <a:buFont typeface="Arial"/>
              <a:buChar char="•"/>
            </a:pPr>
            <a:r>
              <a:rPr lang="en-US" sz="3970" spc="238">
                <a:solidFill>
                  <a:srgbClr val="000000"/>
                </a:solidFill>
                <a:latin typeface="HK Grotesk"/>
                <a:ea typeface="HK Grotesk"/>
                <a:cs typeface="HK Grotesk"/>
                <a:sym typeface="HK Grotesk"/>
              </a:rPr>
              <a:t>Intrusion Detection System (IDS): Software or hardware that monitors network activity for suspicious behavior.</a:t>
            </a:r>
          </a:p>
          <a:p>
            <a:pPr algn="l">
              <a:lnSpc>
                <a:spcPts val="4298"/>
              </a:lnSpc>
            </a:pPr>
          </a:p>
          <a:p>
            <a:pPr algn="l">
              <a:lnSpc>
                <a:spcPts val="4298"/>
              </a:lnSpc>
              <a:spcBef>
                <a:spcPct val="0"/>
              </a:spcBef>
            </a:pPr>
          </a:p>
        </p:txBody>
      </p:sp>
      <p:grpSp>
        <p:nvGrpSpPr>
          <p:cNvPr name="Group 6" id="6"/>
          <p:cNvGrpSpPr/>
          <p:nvPr/>
        </p:nvGrpSpPr>
        <p:grpSpPr>
          <a:xfrm rot="0">
            <a:off x="12160929" y="1194771"/>
            <a:ext cx="5612721" cy="8358379"/>
            <a:chOff x="0" y="0"/>
            <a:chExt cx="812800" cy="1210409"/>
          </a:xfrm>
        </p:grpSpPr>
        <p:sp>
          <p:nvSpPr>
            <p:cNvPr name="Freeform 7" id="7"/>
            <p:cNvSpPr/>
            <p:nvPr/>
          </p:nvSpPr>
          <p:spPr>
            <a:xfrm flipH="false" flipV="false" rot="0">
              <a:off x="0" y="0"/>
              <a:ext cx="812800" cy="1210409"/>
            </a:xfrm>
            <a:custGeom>
              <a:avLst/>
              <a:gdLst/>
              <a:ahLst/>
              <a:cxnLst/>
              <a:rect r="r" b="b" t="t" l="l"/>
              <a:pathLst>
                <a:path h="1210409" w="812800">
                  <a:moveTo>
                    <a:pt x="81382" y="0"/>
                  </a:moveTo>
                  <a:lnTo>
                    <a:pt x="731418" y="0"/>
                  </a:lnTo>
                  <a:cubicBezTo>
                    <a:pt x="776364" y="0"/>
                    <a:pt x="812800" y="36436"/>
                    <a:pt x="812800" y="81382"/>
                  </a:cubicBezTo>
                  <a:lnTo>
                    <a:pt x="812800" y="1129028"/>
                  </a:lnTo>
                  <a:cubicBezTo>
                    <a:pt x="812800" y="1173974"/>
                    <a:pt x="776364" y="1210409"/>
                    <a:pt x="731418" y="1210409"/>
                  </a:cubicBezTo>
                  <a:lnTo>
                    <a:pt x="81382" y="1210409"/>
                  </a:lnTo>
                  <a:cubicBezTo>
                    <a:pt x="36436" y="1210409"/>
                    <a:pt x="0" y="1173974"/>
                    <a:pt x="0" y="1129028"/>
                  </a:cubicBezTo>
                  <a:lnTo>
                    <a:pt x="0" y="81382"/>
                  </a:lnTo>
                  <a:cubicBezTo>
                    <a:pt x="0" y="36436"/>
                    <a:pt x="36436" y="0"/>
                    <a:pt x="81382" y="0"/>
                  </a:cubicBezTo>
                  <a:close/>
                </a:path>
              </a:pathLst>
            </a:custGeom>
            <a:blipFill>
              <a:blip r:embed="rId2"/>
              <a:stretch>
                <a:fillRect l="-24013" t="0" r="-24013" b="0"/>
              </a:stretch>
            </a:blipFill>
          </p:spPr>
        </p:sp>
      </p:grpSp>
      <p:sp>
        <p:nvSpPr>
          <p:cNvPr name="TextBox 8" id="8"/>
          <p:cNvSpPr txBox="true"/>
          <p:nvPr/>
        </p:nvSpPr>
        <p:spPr>
          <a:xfrm rot="0">
            <a:off x="1028700" y="1232871"/>
            <a:ext cx="10440423" cy="922890"/>
          </a:xfrm>
          <a:prstGeom prst="rect">
            <a:avLst/>
          </a:prstGeom>
        </p:spPr>
        <p:txBody>
          <a:bodyPr anchor="t" rtlCol="false" tIns="0" lIns="0" bIns="0" rIns="0">
            <a:spAutoFit/>
          </a:bodyPr>
          <a:lstStyle/>
          <a:p>
            <a:pPr algn="l">
              <a:lnSpc>
                <a:spcPts val="7132"/>
              </a:lnSpc>
            </a:pPr>
            <a:r>
              <a:rPr lang="en-US" sz="6312">
                <a:gradFill>
                  <a:gsLst>
                    <a:gs pos="0">
                      <a:srgbClr val="000000">
                        <a:alpha val="100000"/>
                      </a:srgbClr>
                    </a:gs>
                    <a:gs pos="50000">
                      <a:srgbClr val="082D2F">
                        <a:alpha val="100000"/>
                      </a:srgbClr>
                    </a:gs>
                    <a:gs pos="100000">
                      <a:srgbClr val="28949C">
                        <a:alpha val="100000"/>
                      </a:srgbClr>
                    </a:gs>
                  </a:gsLst>
                  <a:path path="circle">
                    <a:fillToRect l="50000" r="50000" t="50000" b="50000"/>
                  </a:path>
                </a:gradFill>
                <a:latin typeface="Archivo Black"/>
                <a:ea typeface="Archivo Black"/>
                <a:cs typeface="Archivo Black"/>
                <a:sym typeface="Archivo Black"/>
              </a:rPr>
              <a:t>Key Terms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5847804" cy="10287000"/>
            <a:chOff x="0" y="0"/>
            <a:chExt cx="1540162" cy="2709333"/>
          </a:xfrm>
        </p:grpSpPr>
        <p:sp>
          <p:nvSpPr>
            <p:cNvPr name="Freeform 3" id="3"/>
            <p:cNvSpPr/>
            <p:nvPr/>
          </p:nvSpPr>
          <p:spPr>
            <a:xfrm flipH="false" flipV="false" rot="0">
              <a:off x="0" y="0"/>
              <a:ext cx="1540162" cy="2709333"/>
            </a:xfrm>
            <a:custGeom>
              <a:avLst/>
              <a:gdLst/>
              <a:ahLst/>
              <a:cxnLst/>
              <a:rect r="r" b="b" t="t" l="l"/>
              <a:pathLst>
                <a:path h="2709333" w="1540162">
                  <a:moveTo>
                    <a:pt x="0" y="0"/>
                  </a:moveTo>
                  <a:lnTo>
                    <a:pt x="1540162" y="0"/>
                  </a:lnTo>
                  <a:lnTo>
                    <a:pt x="1540162" y="2709333"/>
                  </a:lnTo>
                  <a:lnTo>
                    <a:pt x="0" y="2709333"/>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1540162" cy="2766483"/>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5" id="5"/>
          <p:cNvSpPr txBox="true"/>
          <p:nvPr/>
        </p:nvSpPr>
        <p:spPr>
          <a:xfrm rot="0">
            <a:off x="6254578" y="2242108"/>
            <a:ext cx="11784988" cy="6856509"/>
          </a:xfrm>
          <a:prstGeom prst="rect">
            <a:avLst/>
          </a:prstGeom>
        </p:spPr>
        <p:txBody>
          <a:bodyPr anchor="t" rtlCol="false" tIns="0" lIns="0" bIns="0" rIns="0">
            <a:spAutoFit/>
          </a:bodyPr>
          <a:lstStyle/>
          <a:p>
            <a:pPr algn="l" marL="928329" indent="-464164" lvl="1">
              <a:lnSpc>
                <a:spcPts val="6019"/>
              </a:lnSpc>
              <a:buFont typeface="Arial"/>
              <a:buChar char="•"/>
            </a:pPr>
            <a:r>
              <a:rPr lang="en-US" sz="4299" spc="257">
                <a:solidFill>
                  <a:srgbClr val="000000"/>
                </a:solidFill>
                <a:latin typeface="HK Grotesk"/>
                <a:ea typeface="HK Grotesk"/>
                <a:cs typeface="HK Grotesk"/>
                <a:sym typeface="HK Grotesk"/>
              </a:rPr>
              <a:t>Parallel Computing: Performing many operations at the same time using multiple processors.</a:t>
            </a:r>
          </a:p>
          <a:p>
            <a:pPr algn="l" marL="928329" indent="-464164" lvl="1">
              <a:lnSpc>
                <a:spcPts val="6019"/>
              </a:lnSpc>
              <a:buFont typeface="Arial"/>
              <a:buChar char="•"/>
            </a:pPr>
            <a:r>
              <a:rPr lang="en-US" sz="4299" spc="257">
                <a:solidFill>
                  <a:srgbClr val="000000"/>
                </a:solidFill>
                <a:latin typeface="HK Grotesk"/>
                <a:ea typeface="HK Grotesk"/>
                <a:cs typeface="HK Grotesk"/>
                <a:sym typeface="HK Grotesk"/>
              </a:rPr>
              <a:t>Real-Time Processing: Producing results instantly (within milliseconds).</a:t>
            </a:r>
          </a:p>
          <a:p>
            <a:pPr algn="l" marL="928329" indent="-464164" lvl="1">
              <a:lnSpc>
                <a:spcPts val="6019"/>
              </a:lnSpc>
              <a:buFont typeface="Arial"/>
              <a:buChar char="•"/>
            </a:pPr>
            <a:r>
              <a:rPr lang="en-US" sz="4299" spc="257">
                <a:solidFill>
                  <a:srgbClr val="000000"/>
                </a:solidFill>
                <a:latin typeface="HK Grotesk"/>
                <a:ea typeface="HK Grotesk"/>
                <a:cs typeface="HK Grotesk"/>
                <a:sym typeface="HK Grotesk"/>
              </a:rPr>
              <a:t>Anomaly Detection: Identifying abnormal patterns that may signal an attack.</a:t>
            </a:r>
          </a:p>
          <a:p>
            <a:pPr algn="l">
              <a:lnSpc>
                <a:spcPts val="601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0"/>
            <a:ext cx="1028700" cy="10287000"/>
            <a:chOff x="0" y="0"/>
            <a:chExt cx="270933" cy="2709333"/>
          </a:xfrm>
        </p:grpSpPr>
        <p:sp>
          <p:nvSpPr>
            <p:cNvPr name="Freeform 3" id="3"/>
            <p:cNvSpPr/>
            <p:nvPr/>
          </p:nvSpPr>
          <p:spPr>
            <a:xfrm flipH="false" flipV="false" rot="0">
              <a:off x="0" y="0"/>
              <a:ext cx="270933" cy="2709333"/>
            </a:xfrm>
            <a:custGeom>
              <a:avLst/>
              <a:gdLst/>
              <a:ahLst/>
              <a:cxnLst/>
              <a:rect r="r" b="b" t="t" l="l"/>
              <a:pathLst>
                <a:path h="2709333" w="270933">
                  <a:moveTo>
                    <a:pt x="0" y="0"/>
                  </a:moveTo>
                  <a:lnTo>
                    <a:pt x="270933" y="0"/>
                  </a:lnTo>
                  <a:lnTo>
                    <a:pt x="270933" y="2709333"/>
                  </a:lnTo>
                  <a:lnTo>
                    <a:pt x="0" y="2709333"/>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270933" cy="2766483"/>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Freeform 5" id="5"/>
          <p:cNvSpPr/>
          <p:nvPr/>
        </p:nvSpPr>
        <p:spPr>
          <a:xfrm flipH="false" flipV="false" rot="0">
            <a:off x="6381443" y="1562833"/>
            <a:ext cx="7747141" cy="8074485"/>
          </a:xfrm>
          <a:custGeom>
            <a:avLst/>
            <a:gdLst/>
            <a:ahLst/>
            <a:cxnLst/>
            <a:rect r="r" b="b" t="t" l="l"/>
            <a:pathLst>
              <a:path h="8074485" w="7747141">
                <a:moveTo>
                  <a:pt x="0" y="0"/>
                </a:moveTo>
                <a:lnTo>
                  <a:pt x="7747141" y="0"/>
                </a:lnTo>
                <a:lnTo>
                  <a:pt x="7747141" y="8074485"/>
                </a:lnTo>
                <a:lnTo>
                  <a:pt x="0" y="8074485"/>
                </a:lnTo>
                <a:lnTo>
                  <a:pt x="0" y="0"/>
                </a:lnTo>
                <a:close/>
              </a:path>
            </a:pathLst>
          </a:custGeom>
          <a:blipFill>
            <a:blip r:embed="rId2"/>
            <a:stretch>
              <a:fillRect l="0" t="0" r="0" b="0"/>
            </a:stretch>
          </a:blipFill>
        </p:spPr>
      </p:sp>
      <p:sp>
        <p:nvSpPr>
          <p:cNvPr name="TextBox 6" id="6"/>
          <p:cNvSpPr txBox="true"/>
          <p:nvPr/>
        </p:nvSpPr>
        <p:spPr>
          <a:xfrm rot="0">
            <a:off x="658362" y="803010"/>
            <a:ext cx="9864642" cy="759822"/>
          </a:xfrm>
          <a:prstGeom prst="rect">
            <a:avLst/>
          </a:prstGeom>
        </p:spPr>
        <p:txBody>
          <a:bodyPr anchor="t" rtlCol="false" tIns="0" lIns="0" bIns="0" rIns="0">
            <a:spAutoFit/>
          </a:bodyPr>
          <a:lstStyle/>
          <a:p>
            <a:pPr algn="l">
              <a:lnSpc>
                <a:spcPts val="5776"/>
              </a:lnSpc>
            </a:pPr>
            <a:r>
              <a:rPr lang="en-US" sz="5112">
                <a:gradFill>
                  <a:gsLst>
                    <a:gs pos="0">
                      <a:srgbClr val="000000">
                        <a:alpha val="100000"/>
                      </a:srgbClr>
                    </a:gs>
                    <a:gs pos="50000">
                      <a:srgbClr val="082D2F">
                        <a:alpha val="100000"/>
                      </a:srgbClr>
                    </a:gs>
                    <a:gs pos="100000">
                      <a:srgbClr val="28949C">
                        <a:alpha val="100000"/>
                      </a:srgbClr>
                    </a:gs>
                  </a:gsLst>
                  <a:path path="circle">
                    <a:fillToRect l="50000" r="50000" t="50000" b="50000"/>
                  </a:path>
                </a:gradFill>
                <a:latin typeface="Archivo Black"/>
                <a:ea typeface="Archivo Black"/>
                <a:cs typeface="Archivo Black"/>
                <a:sym typeface="Archivo Black"/>
              </a:rPr>
              <a:t>Block Diagram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25" y="8141930"/>
            <a:ext cx="18277775" cy="2145070"/>
            <a:chOff x="0" y="0"/>
            <a:chExt cx="4813900" cy="564957"/>
          </a:xfrm>
        </p:grpSpPr>
        <p:sp>
          <p:nvSpPr>
            <p:cNvPr name="Freeform 3" id="3"/>
            <p:cNvSpPr/>
            <p:nvPr/>
          </p:nvSpPr>
          <p:spPr>
            <a:xfrm flipH="false" flipV="false" rot="0">
              <a:off x="0" y="0"/>
              <a:ext cx="4813900" cy="564957"/>
            </a:xfrm>
            <a:custGeom>
              <a:avLst/>
              <a:gdLst/>
              <a:ahLst/>
              <a:cxnLst/>
              <a:rect r="r" b="b" t="t" l="l"/>
              <a:pathLst>
                <a:path h="564957" w="4813900">
                  <a:moveTo>
                    <a:pt x="0" y="0"/>
                  </a:moveTo>
                  <a:lnTo>
                    <a:pt x="4813900" y="0"/>
                  </a:lnTo>
                  <a:lnTo>
                    <a:pt x="4813900" y="564957"/>
                  </a:lnTo>
                  <a:lnTo>
                    <a:pt x="0" y="564957"/>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4813900" cy="622107"/>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5" id="5"/>
          <p:cNvSpPr txBox="true"/>
          <p:nvPr/>
        </p:nvSpPr>
        <p:spPr>
          <a:xfrm rot="0">
            <a:off x="843531" y="2319494"/>
            <a:ext cx="11784988" cy="6093123"/>
          </a:xfrm>
          <a:prstGeom prst="rect">
            <a:avLst/>
          </a:prstGeom>
        </p:spPr>
        <p:txBody>
          <a:bodyPr anchor="t" rtlCol="false" tIns="0" lIns="0" bIns="0" rIns="0">
            <a:spAutoFit/>
          </a:bodyPr>
          <a:lstStyle/>
          <a:p>
            <a:pPr algn="l" marL="928329" indent="-464164" lvl="1">
              <a:lnSpc>
                <a:spcPts val="6019"/>
              </a:lnSpc>
              <a:buFont typeface="Arial"/>
              <a:buChar char="•"/>
            </a:pPr>
            <a:r>
              <a:rPr lang="en-US" sz="4299" spc="257">
                <a:solidFill>
                  <a:srgbClr val="000000"/>
                </a:solidFill>
                <a:latin typeface="HK Grotesk"/>
                <a:ea typeface="HK Grotesk"/>
                <a:cs typeface="HK Grotesk"/>
                <a:sym typeface="HK Grotesk"/>
              </a:rPr>
              <a:t>Network data packets = Passengers arriving at the airport</a:t>
            </a:r>
          </a:p>
          <a:p>
            <a:pPr algn="l" marL="928329" indent="-464164" lvl="1">
              <a:lnSpc>
                <a:spcPts val="6019"/>
              </a:lnSpc>
              <a:buFont typeface="Arial"/>
              <a:buChar char="•"/>
            </a:pPr>
            <a:r>
              <a:rPr lang="en-US" sz="4299" spc="257">
                <a:solidFill>
                  <a:srgbClr val="000000"/>
                </a:solidFill>
                <a:latin typeface="HK Grotesk"/>
                <a:ea typeface="HK Grotesk"/>
                <a:cs typeface="HK Grotesk"/>
                <a:sym typeface="HK Grotesk"/>
              </a:rPr>
              <a:t>IDS = Security checkpoint that checks everyone for threats</a:t>
            </a:r>
          </a:p>
          <a:p>
            <a:pPr algn="l" marL="928329" indent="-464164" lvl="1">
              <a:lnSpc>
                <a:spcPts val="6019"/>
              </a:lnSpc>
              <a:buFont typeface="Arial"/>
              <a:buChar char="•"/>
            </a:pPr>
            <a:r>
              <a:rPr lang="en-US" sz="4299" spc="257">
                <a:solidFill>
                  <a:srgbClr val="000000"/>
                </a:solidFill>
                <a:latin typeface="HK Grotesk"/>
                <a:ea typeface="HK Grotesk"/>
                <a:cs typeface="HK Grotesk"/>
                <a:sym typeface="HK Grotesk"/>
              </a:rPr>
              <a:t>Processors = Security officers</a:t>
            </a:r>
          </a:p>
          <a:p>
            <a:pPr algn="l" marL="928329" indent="-464164" lvl="1">
              <a:lnSpc>
                <a:spcPts val="6019"/>
              </a:lnSpc>
              <a:buFont typeface="Arial"/>
              <a:buChar char="•"/>
            </a:pPr>
            <a:r>
              <a:rPr lang="en-US" sz="4299" spc="257">
                <a:solidFill>
                  <a:srgbClr val="000000"/>
                </a:solidFill>
                <a:latin typeface="HK Grotesk"/>
                <a:ea typeface="HK Grotesk"/>
                <a:cs typeface="HK Grotesk"/>
                <a:sym typeface="HK Grotesk"/>
              </a:rPr>
              <a:t>Parallelism = Multiple officers checking passengers at the same time</a:t>
            </a:r>
          </a:p>
          <a:p>
            <a:pPr algn="l">
              <a:lnSpc>
                <a:spcPts val="6019"/>
              </a:lnSpc>
              <a:spcBef>
                <a:spcPct val="0"/>
              </a:spcBef>
            </a:pPr>
          </a:p>
        </p:txBody>
      </p:sp>
      <p:grpSp>
        <p:nvGrpSpPr>
          <p:cNvPr name="Group 6" id="6"/>
          <p:cNvGrpSpPr/>
          <p:nvPr/>
        </p:nvGrpSpPr>
        <p:grpSpPr>
          <a:xfrm rot="0">
            <a:off x="12403756" y="1237093"/>
            <a:ext cx="5246370" cy="7812815"/>
            <a:chOff x="0" y="0"/>
            <a:chExt cx="812800" cy="1210409"/>
          </a:xfrm>
        </p:grpSpPr>
        <p:sp>
          <p:nvSpPr>
            <p:cNvPr name="Freeform 7" id="7"/>
            <p:cNvSpPr/>
            <p:nvPr/>
          </p:nvSpPr>
          <p:spPr>
            <a:xfrm flipH="false" flipV="false" rot="0">
              <a:off x="0" y="0"/>
              <a:ext cx="812800" cy="1210409"/>
            </a:xfrm>
            <a:custGeom>
              <a:avLst/>
              <a:gdLst/>
              <a:ahLst/>
              <a:cxnLst/>
              <a:rect r="r" b="b" t="t" l="l"/>
              <a:pathLst>
                <a:path h="1210409" w="812800">
                  <a:moveTo>
                    <a:pt x="87065" y="0"/>
                  </a:moveTo>
                  <a:lnTo>
                    <a:pt x="725735" y="0"/>
                  </a:lnTo>
                  <a:cubicBezTo>
                    <a:pt x="748826" y="0"/>
                    <a:pt x="770972" y="9173"/>
                    <a:pt x="787299" y="25501"/>
                  </a:cubicBezTo>
                  <a:cubicBezTo>
                    <a:pt x="803627" y="41828"/>
                    <a:pt x="812800" y="63974"/>
                    <a:pt x="812800" y="87065"/>
                  </a:cubicBezTo>
                  <a:lnTo>
                    <a:pt x="812800" y="1123345"/>
                  </a:lnTo>
                  <a:cubicBezTo>
                    <a:pt x="812800" y="1146436"/>
                    <a:pt x="803627" y="1168581"/>
                    <a:pt x="787299" y="1184909"/>
                  </a:cubicBezTo>
                  <a:cubicBezTo>
                    <a:pt x="770972" y="1201237"/>
                    <a:pt x="748826" y="1210409"/>
                    <a:pt x="725735" y="1210409"/>
                  </a:cubicBezTo>
                  <a:lnTo>
                    <a:pt x="87065" y="1210409"/>
                  </a:lnTo>
                  <a:cubicBezTo>
                    <a:pt x="63974" y="1210409"/>
                    <a:pt x="41828" y="1201237"/>
                    <a:pt x="25501" y="1184909"/>
                  </a:cubicBezTo>
                  <a:cubicBezTo>
                    <a:pt x="9173" y="1168581"/>
                    <a:pt x="0" y="1146436"/>
                    <a:pt x="0" y="1123345"/>
                  </a:cubicBezTo>
                  <a:lnTo>
                    <a:pt x="0" y="87065"/>
                  </a:lnTo>
                  <a:cubicBezTo>
                    <a:pt x="0" y="63974"/>
                    <a:pt x="9173" y="41828"/>
                    <a:pt x="25501" y="25501"/>
                  </a:cubicBezTo>
                  <a:cubicBezTo>
                    <a:pt x="41828" y="9173"/>
                    <a:pt x="63974" y="0"/>
                    <a:pt x="87065" y="0"/>
                  </a:cubicBezTo>
                  <a:close/>
                </a:path>
              </a:pathLst>
            </a:custGeom>
            <a:blipFill>
              <a:blip r:embed="rId2"/>
              <a:stretch>
                <a:fillRect l="-61688" t="0" r="-61688" b="0"/>
              </a:stretch>
            </a:blipFill>
          </p:spPr>
        </p:sp>
      </p:grpSp>
      <p:sp>
        <p:nvSpPr>
          <p:cNvPr name="TextBox 8" id="8"/>
          <p:cNvSpPr txBox="true"/>
          <p:nvPr/>
        </p:nvSpPr>
        <p:spPr>
          <a:xfrm rot="0">
            <a:off x="1028700" y="658314"/>
            <a:ext cx="10440423" cy="1493247"/>
          </a:xfrm>
          <a:prstGeom prst="rect">
            <a:avLst/>
          </a:prstGeom>
        </p:spPr>
        <p:txBody>
          <a:bodyPr anchor="t" rtlCol="false" tIns="0" lIns="0" bIns="0" rIns="0">
            <a:spAutoFit/>
          </a:bodyPr>
          <a:lstStyle/>
          <a:p>
            <a:pPr algn="l">
              <a:lnSpc>
                <a:spcPts val="5776"/>
              </a:lnSpc>
            </a:pPr>
            <a:r>
              <a:rPr lang="en-US" sz="5112">
                <a:solidFill>
                  <a:srgbClr val="000000"/>
                </a:solidFill>
                <a:latin typeface="Archivo Black"/>
                <a:ea typeface="Archivo Black"/>
                <a:cs typeface="Archivo Black"/>
                <a:sym typeface="Archivo Black"/>
              </a:rPr>
              <a:t>Real-Life Analogy: Airport Security</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3796" y="8141930"/>
            <a:ext cx="18606964" cy="2145070"/>
            <a:chOff x="0" y="0"/>
            <a:chExt cx="4900600" cy="564957"/>
          </a:xfrm>
        </p:grpSpPr>
        <p:sp>
          <p:nvSpPr>
            <p:cNvPr name="Freeform 3" id="3"/>
            <p:cNvSpPr/>
            <p:nvPr/>
          </p:nvSpPr>
          <p:spPr>
            <a:xfrm flipH="false" flipV="false" rot="0">
              <a:off x="0" y="0"/>
              <a:ext cx="4900600" cy="564957"/>
            </a:xfrm>
            <a:custGeom>
              <a:avLst/>
              <a:gdLst/>
              <a:ahLst/>
              <a:cxnLst/>
              <a:rect r="r" b="b" t="t" l="l"/>
              <a:pathLst>
                <a:path h="564957" w="4900600">
                  <a:moveTo>
                    <a:pt x="0" y="0"/>
                  </a:moveTo>
                  <a:lnTo>
                    <a:pt x="4900600" y="0"/>
                  </a:lnTo>
                  <a:lnTo>
                    <a:pt x="4900600" y="564957"/>
                  </a:lnTo>
                  <a:lnTo>
                    <a:pt x="0" y="564957"/>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4900600" cy="622107"/>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5" id="5"/>
          <p:cNvSpPr txBox="true"/>
          <p:nvPr/>
        </p:nvSpPr>
        <p:spPr>
          <a:xfrm rot="0">
            <a:off x="3434059" y="4370915"/>
            <a:ext cx="11471255" cy="1745194"/>
          </a:xfrm>
          <a:prstGeom prst="rect">
            <a:avLst/>
          </a:prstGeom>
        </p:spPr>
        <p:txBody>
          <a:bodyPr anchor="t" rtlCol="false" tIns="0" lIns="0" bIns="0" rIns="0">
            <a:spAutoFit/>
          </a:bodyPr>
          <a:lstStyle/>
          <a:p>
            <a:pPr algn="ctr">
              <a:lnSpc>
                <a:spcPts val="6642"/>
              </a:lnSpc>
            </a:pPr>
            <a:r>
              <a:rPr lang="en-US" sz="7298">
                <a:gradFill>
                  <a:gsLst>
                    <a:gs pos="0">
                      <a:srgbClr val="000000">
                        <a:alpha val="100000"/>
                      </a:srgbClr>
                    </a:gs>
                    <a:gs pos="50000">
                      <a:srgbClr val="082D2F">
                        <a:alpha val="100000"/>
                      </a:srgbClr>
                    </a:gs>
                    <a:gs pos="100000">
                      <a:srgbClr val="28949C">
                        <a:alpha val="100000"/>
                      </a:srgbClr>
                    </a:gs>
                  </a:gsLst>
                  <a:path path="circle">
                    <a:fillToRect l="50000" r="50000" t="50000" b="50000"/>
                  </a:path>
                </a:gradFill>
                <a:latin typeface="Archivo Black"/>
                <a:ea typeface="Archivo Black"/>
                <a:cs typeface="Archivo Black"/>
                <a:sym typeface="Archivo Black"/>
              </a:rPr>
              <a:t>MAIN MECHANISM / HOW IT WORKS</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409305" y="3445329"/>
            <a:ext cx="3448931" cy="1139296"/>
            <a:chOff x="0" y="0"/>
            <a:chExt cx="1170591" cy="386685"/>
          </a:xfrm>
        </p:grpSpPr>
        <p:sp>
          <p:nvSpPr>
            <p:cNvPr name="Freeform 3" id="3"/>
            <p:cNvSpPr/>
            <p:nvPr/>
          </p:nvSpPr>
          <p:spPr>
            <a:xfrm flipH="false" flipV="false" rot="0">
              <a:off x="0" y="0"/>
              <a:ext cx="1170591" cy="386685"/>
            </a:xfrm>
            <a:custGeom>
              <a:avLst/>
              <a:gdLst/>
              <a:ahLst/>
              <a:cxnLst/>
              <a:rect r="r" b="b" t="t" l="l"/>
              <a:pathLst>
                <a:path h="386685" w="1170591">
                  <a:moveTo>
                    <a:pt x="20203" y="0"/>
                  </a:moveTo>
                  <a:lnTo>
                    <a:pt x="1150388" y="0"/>
                  </a:lnTo>
                  <a:cubicBezTo>
                    <a:pt x="1155746" y="0"/>
                    <a:pt x="1160885" y="2128"/>
                    <a:pt x="1164674" y="5917"/>
                  </a:cubicBezTo>
                  <a:cubicBezTo>
                    <a:pt x="1168462" y="9706"/>
                    <a:pt x="1170591" y="14845"/>
                    <a:pt x="1170591" y="20203"/>
                  </a:cubicBezTo>
                  <a:lnTo>
                    <a:pt x="1170591" y="366482"/>
                  </a:lnTo>
                  <a:cubicBezTo>
                    <a:pt x="1170591" y="371840"/>
                    <a:pt x="1168462" y="376979"/>
                    <a:pt x="1164674" y="380768"/>
                  </a:cubicBezTo>
                  <a:cubicBezTo>
                    <a:pt x="1160885" y="384556"/>
                    <a:pt x="1155746" y="386685"/>
                    <a:pt x="1150388" y="386685"/>
                  </a:cubicBezTo>
                  <a:lnTo>
                    <a:pt x="20203" y="386685"/>
                  </a:lnTo>
                  <a:cubicBezTo>
                    <a:pt x="14845" y="386685"/>
                    <a:pt x="9706" y="384556"/>
                    <a:pt x="5917" y="380768"/>
                  </a:cubicBezTo>
                  <a:cubicBezTo>
                    <a:pt x="2128" y="376979"/>
                    <a:pt x="0" y="371840"/>
                    <a:pt x="0" y="366482"/>
                  </a:cubicBezTo>
                  <a:lnTo>
                    <a:pt x="0" y="20203"/>
                  </a:lnTo>
                  <a:cubicBezTo>
                    <a:pt x="0" y="14845"/>
                    <a:pt x="2128" y="9706"/>
                    <a:pt x="5917" y="5917"/>
                  </a:cubicBezTo>
                  <a:cubicBezTo>
                    <a:pt x="9706" y="2128"/>
                    <a:pt x="14845" y="0"/>
                    <a:pt x="20203" y="0"/>
                  </a:cubicBezTo>
                  <a:close/>
                </a:path>
              </a:pathLst>
            </a:custGeom>
            <a:gradFill rotWithShape="true">
              <a:gsLst>
                <a:gs pos="0">
                  <a:srgbClr val="65CED1">
                    <a:alpha val="100000"/>
                  </a:srgbClr>
                </a:gs>
                <a:gs pos="100000">
                  <a:srgbClr val="1F4E4F">
                    <a:alpha val="100000"/>
                  </a:srgbClr>
                </a:gs>
              </a:gsLst>
              <a:lin ang="2700000"/>
            </a:gradFill>
            <a:ln cap="sq">
              <a:noFill/>
              <a:prstDash val="solid"/>
              <a:miter/>
            </a:ln>
          </p:spPr>
        </p:sp>
        <p:sp>
          <p:nvSpPr>
            <p:cNvPr name="TextBox 4" id="4"/>
            <p:cNvSpPr txBox="true"/>
            <p:nvPr/>
          </p:nvSpPr>
          <p:spPr>
            <a:xfrm>
              <a:off x="0" y="-57150"/>
              <a:ext cx="1170591" cy="443835"/>
            </a:xfrm>
            <a:prstGeom prst="rect">
              <a:avLst/>
            </a:prstGeom>
          </p:spPr>
          <p:txBody>
            <a:bodyPr anchor="ctr" rtlCol="false" tIns="50800" lIns="50800" bIns="50800" rIns="50800"/>
            <a:lstStyle/>
            <a:p>
              <a:pPr algn="ctr" marL="0" indent="0" lvl="0">
                <a:lnSpc>
                  <a:spcPts val="4007"/>
                </a:lnSpc>
                <a:spcBef>
                  <a:spcPct val="0"/>
                </a:spcBef>
              </a:pPr>
              <a:r>
                <a:rPr lang="en-US" sz="2862">
                  <a:solidFill>
                    <a:srgbClr val="FFFFFF"/>
                  </a:solidFill>
                  <a:latin typeface="Archivo Black"/>
                  <a:ea typeface="Archivo Black"/>
                  <a:cs typeface="Archivo Black"/>
                  <a:sym typeface="Archivo Black"/>
                </a:rPr>
                <a:t>Incoming Network Data</a:t>
              </a:r>
            </a:p>
          </p:txBody>
        </p:sp>
      </p:grpSp>
      <p:grpSp>
        <p:nvGrpSpPr>
          <p:cNvPr name="Group 5" id="5"/>
          <p:cNvGrpSpPr/>
          <p:nvPr/>
        </p:nvGrpSpPr>
        <p:grpSpPr>
          <a:xfrm rot="0">
            <a:off x="7129654" y="3445329"/>
            <a:ext cx="3409168" cy="1128452"/>
            <a:chOff x="0" y="0"/>
            <a:chExt cx="1157095" cy="383004"/>
          </a:xfrm>
        </p:grpSpPr>
        <p:sp>
          <p:nvSpPr>
            <p:cNvPr name="Freeform 6" id="6"/>
            <p:cNvSpPr/>
            <p:nvPr/>
          </p:nvSpPr>
          <p:spPr>
            <a:xfrm flipH="false" flipV="false" rot="0">
              <a:off x="0" y="0"/>
              <a:ext cx="1157095" cy="383004"/>
            </a:xfrm>
            <a:custGeom>
              <a:avLst/>
              <a:gdLst/>
              <a:ahLst/>
              <a:cxnLst/>
              <a:rect r="r" b="b" t="t" l="l"/>
              <a:pathLst>
                <a:path h="383004" w="1157095">
                  <a:moveTo>
                    <a:pt x="20438" y="0"/>
                  </a:moveTo>
                  <a:lnTo>
                    <a:pt x="1136657" y="0"/>
                  </a:lnTo>
                  <a:cubicBezTo>
                    <a:pt x="1147945" y="0"/>
                    <a:pt x="1157095" y="9150"/>
                    <a:pt x="1157095" y="20438"/>
                  </a:cubicBezTo>
                  <a:lnTo>
                    <a:pt x="1157095" y="362566"/>
                  </a:lnTo>
                  <a:cubicBezTo>
                    <a:pt x="1157095" y="373854"/>
                    <a:pt x="1147945" y="383004"/>
                    <a:pt x="1136657" y="383004"/>
                  </a:cubicBezTo>
                  <a:lnTo>
                    <a:pt x="20438" y="383004"/>
                  </a:lnTo>
                  <a:cubicBezTo>
                    <a:pt x="9150" y="383004"/>
                    <a:pt x="0" y="373854"/>
                    <a:pt x="0" y="362566"/>
                  </a:cubicBezTo>
                  <a:lnTo>
                    <a:pt x="0" y="20438"/>
                  </a:lnTo>
                  <a:cubicBezTo>
                    <a:pt x="0" y="9150"/>
                    <a:pt x="9150" y="0"/>
                    <a:pt x="20438" y="0"/>
                  </a:cubicBezTo>
                  <a:close/>
                </a:path>
              </a:pathLst>
            </a:custGeom>
            <a:gradFill rotWithShape="true">
              <a:gsLst>
                <a:gs pos="0">
                  <a:srgbClr val="65CED1">
                    <a:alpha val="100000"/>
                  </a:srgbClr>
                </a:gs>
                <a:gs pos="100000">
                  <a:srgbClr val="1F4E4F">
                    <a:alpha val="100000"/>
                  </a:srgbClr>
                </a:gs>
              </a:gsLst>
              <a:lin ang="2700000"/>
            </a:gradFill>
            <a:ln cap="sq">
              <a:noFill/>
              <a:prstDash val="solid"/>
              <a:miter/>
            </a:ln>
          </p:spPr>
        </p:sp>
        <p:sp>
          <p:nvSpPr>
            <p:cNvPr name="TextBox 7" id="7"/>
            <p:cNvSpPr txBox="true"/>
            <p:nvPr/>
          </p:nvSpPr>
          <p:spPr>
            <a:xfrm>
              <a:off x="0" y="-57150"/>
              <a:ext cx="1157095" cy="440154"/>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8" id="8"/>
          <p:cNvSpPr txBox="true"/>
          <p:nvPr/>
        </p:nvSpPr>
        <p:spPr>
          <a:xfrm rot="0">
            <a:off x="1193245" y="1405456"/>
            <a:ext cx="9864642" cy="759822"/>
          </a:xfrm>
          <a:prstGeom prst="rect">
            <a:avLst/>
          </a:prstGeom>
        </p:spPr>
        <p:txBody>
          <a:bodyPr anchor="t" rtlCol="false" tIns="0" lIns="0" bIns="0" rIns="0">
            <a:spAutoFit/>
          </a:bodyPr>
          <a:lstStyle/>
          <a:p>
            <a:pPr algn="l">
              <a:lnSpc>
                <a:spcPts val="5776"/>
              </a:lnSpc>
            </a:pPr>
            <a:r>
              <a:rPr lang="en-US" sz="5112">
                <a:gradFill>
                  <a:gsLst>
                    <a:gs pos="0">
                      <a:srgbClr val="000000">
                        <a:alpha val="100000"/>
                      </a:srgbClr>
                    </a:gs>
                    <a:gs pos="50000">
                      <a:srgbClr val="082D2F">
                        <a:alpha val="100000"/>
                      </a:srgbClr>
                    </a:gs>
                    <a:gs pos="100000">
                      <a:srgbClr val="28949C">
                        <a:alpha val="100000"/>
                      </a:srgbClr>
                    </a:gs>
                  </a:gsLst>
                  <a:path path="circle">
                    <a:fillToRect l="50000" r="50000" t="50000" b="50000"/>
                  </a:path>
                </a:gradFill>
                <a:latin typeface="Archivo Black"/>
                <a:ea typeface="Archivo Black"/>
                <a:cs typeface="Archivo Black"/>
                <a:sym typeface="Archivo Black"/>
              </a:rPr>
              <a:t>Main Mechanism</a:t>
            </a:r>
          </a:p>
        </p:txBody>
      </p:sp>
      <p:sp>
        <p:nvSpPr>
          <p:cNvPr name="TextBox 9" id="9"/>
          <p:cNvSpPr txBox="true"/>
          <p:nvPr/>
        </p:nvSpPr>
        <p:spPr>
          <a:xfrm rot="0">
            <a:off x="7366223" y="3810883"/>
            <a:ext cx="2936029" cy="416395"/>
          </a:xfrm>
          <a:prstGeom prst="rect">
            <a:avLst/>
          </a:prstGeom>
        </p:spPr>
        <p:txBody>
          <a:bodyPr anchor="t" rtlCol="false" tIns="0" lIns="0" bIns="0" rIns="0">
            <a:spAutoFit/>
          </a:bodyPr>
          <a:lstStyle/>
          <a:p>
            <a:pPr algn="l">
              <a:lnSpc>
                <a:spcPts val="3288"/>
              </a:lnSpc>
            </a:pPr>
            <a:r>
              <a:rPr lang="en-US" sz="2910">
                <a:solidFill>
                  <a:srgbClr val="FFFFFF"/>
                </a:solidFill>
                <a:latin typeface="Archivo Black"/>
                <a:ea typeface="Archivo Black"/>
                <a:cs typeface="Archivo Black"/>
                <a:sym typeface="Archivo Black"/>
              </a:rPr>
              <a:t>Load Balancer </a:t>
            </a:r>
          </a:p>
        </p:txBody>
      </p:sp>
      <p:sp>
        <p:nvSpPr>
          <p:cNvPr name="TextBox 10" id="10"/>
          <p:cNvSpPr txBox="true"/>
          <p:nvPr/>
        </p:nvSpPr>
        <p:spPr>
          <a:xfrm rot="0">
            <a:off x="1409305" y="4887351"/>
            <a:ext cx="4033026" cy="3564549"/>
          </a:xfrm>
          <a:prstGeom prst="rect">
            <a:avLst/>
          </a:prstGeom>
        </p:spPr>
        <p:txBody>
          <a:bodyPr anchor="t" rtlCol="false" tIns="0" lIns="0" bIns="0" rIns="0">
            <a:spAutoFit/>
          </a:bodyPr>
          <a:lstStyle/>
          <a:p>
            <a:pPr algn="l">
              <a:lnSpc>
                <a:spcPts val="4515"/>
              </a:lnSpc>
            </a:pPr>
            <a:r>
              <a:rPr lang="en-US" sz="3473" spc="-17">
                <a:solidFill>
                  <a:srgbClr val="343434"/>
                </a:solidFill>
                <a:latin typeface="HK Grotesk"/>
                <a:ea typeface="HK Grotesk"/>
                <a:cs typeface="HK Grotesk"/>
                <a:sym typeface="HK Grotesk"/>
              </a:rPr>
              <a:t>Millions of packets flow into the system from devices, servers, and applications.</a:t>
            </a:r>
          </a:p>
          <a:p>
            <a:pPr algn="l">
              <a:lnSpc>
                <a:spcPts val="2833"/>
              </a:lnSpc>
            </a:pPr>
          </a:p>
          <a:p>
            <a:pPr algn="l" marL="0" indent="0" lvl="0">
              <a:lnSpc>
                <a:spcPts val="2833"/>
              </a:lnSpc>
              <a:spcBef>
                <a:spcPct val="0"/>
              </a:spcBef>
            </a:pPr>
          </a:p>
        </p:txBody>
      </p:sp>
      <p:sp>
        <p:nvSpPr>
          <p:cNvPr name="TextBox 11" id="11"/>
          <p:cNvSpPr txBox="true"/>
          <p:nvPr/>
        </p:nvSpPr>
        <p:spPr>
          <a:xfrm rot="0">
            <a:off x="6900686" y="4771728"/>
            <a:ext cx="4486628" cy="3952388"/>
          </a:xfrm>
          <a:prstGeom prst="rect">
            <a:avLst/>
          </a:prstGeom>
        </p:spPr>
        <p:txBody>
          <a:bodyPr anchor="t" rtlCol="false" tIns="0" lIns="0" bIns="0" rIns="0">
            <a:spAutoFit/>
          </a:bodyPr>
          <a:lstStyle/>
          <a:p>
            <a:pPr algn="l" marL="655981" indent="-327990" lvl="1">
              <a:lnSpc>
                <a:spcPts val="3949"/>
              </a:lnSpc>
              <a:buFont typeface="Arial"/>
              <a:buChar char="•"/>
            </a:pPr>
            <a:r>
              <a:rPr lang="en-US" sz="3038" spc="-15">
                <a:solidFill>
                  <a:srgbClr val="343434"/>
                </a:solidFill>
                <a:latin typeface="HK Grotesk"/>
                <a:ea typeface="HK Grotesk"/>
                <a:cs typeface="HK Grotesk"/>
                <a:sym typeface="HK Grotesk"/>
              </a:rPr>
              <a:t>Splits the incoming data into smaller chunks for processing.</a:t>
            </a:r>
          </a:p>
          <a:p>
            <a:pPr algn="l" marL="655981" indent="-327990" lvl="1">
              <a:lnSpc>
                <a:spcPts val="3949"/>
              </a:lnSpc>
              <a:buFont typeface="Arial"/>
              <a:buChar char="•"/>
            </a:pPr>
            <a:r>
              <a:rPr lang="en-US" sz="3038" spc="-15">
                <a:solidFill>
                  <a:srgbClr val="343434"/>
                </a:solidFill>
                <a:latin typeface="HK Grotesk"/>
                <a:ea typeface="HK Grotesk"/>
                <a:cs typeface="HK Grotesk"/>
                <a:sym typeface="HK Grotesk"/>
              </a:rPr>
              <a:t>Ensures data is distributed evenly across multiple processors or nodes.</a:t>
            </a:r>
          </a:p>
          <a:p>
            <a:pPr algn="l" marL="0" indent="0" lvl="0">
              <a:lnSpc>
                <a:spcPts val="3949"/>
              </a:lnSpc>
              <a:spcBef>
                <a:spcPct val="0"/>
              </a:spcBef>
            </a:pPr>
          </a:p>
        </p:txBody>
      </p:sp>
      <p:grpSp>
        <p:nvGrpSpPr>
          <p:cNvPr name="Group 12" id="12"/>
          <p:cNvGrpSpPr/>
          <p:nvPr/>
        </p:nvGrpSpPr>
        <p:grpSpPr>
          <a:xfrm rot="0">
            <a:off x="12139213" y="3445329"/>
            <a:ext cx="3444117" cy="1128452"/>
            <a:chOff x="0" y="0"/>
            <a:chExt cx="1168957" cy="383004"/>
          </a:xfrm>
        </p:grpSpPr>
        <p:sp>
          <p:nvSpPr>
            <p:cNvPr name="Freeform 13" id="13"/>
            <p:cNvSpPr/>
            <p:nvPr/>
          </p:nvSpPr>
          <p:spPr>
            <a:xfrm flipH="false" flipV="false" rot="0">
              <a:off x="0" y="0"/>
              <a:ext cx="1168957" cy="383004"/>
            </a:xfrm>
            <a:custGeom>
              <a:avLst/>
              <a:gdLst/>
              <a:ahLst/>
              <a:cxnLst/>
              <a:rect r="r" b="b" t="t" l="l"/>
              <a:pathLst>
                <a:path h="383004" w="1168957">
                  <a:moveTo>
                    <a:pt x="20231" y="0"/>
                  </a:moveTo>
                  <a:lnTo>
                    <a:pt x="1148726" y="0"/>
                  </a:lnTo>
                  <a:cubicBezTo>
                    <a:pt x="1154092" y="0"/>
                    <a:pt x="1159237" y="2131"/>
                    <a:pt x="1163031" y="5925"/>
                  </a:cubicBezTo>
                  <a:cubicBezTo>
                    <a:pt x="1166825" y="9719"/>
                    <a:pt x="1168957" y="14865"/>
                    <a:pt x="1168957" y="20231"/>
                  </a:cubicBezTo>
                  <a:lnTo>
                    <a:pt x="1168957" y="362774"/>
                  </a:lnTo>
                  <a:cubicBezTo>
                    <a:pt x="1168957" y="373947"/>
                    <a:pt x="1159899" y="383004"/>
                    <a:pt x="1148726" y="383004"/>
                  </a:cubicBezTo>
                  <a:lnTo>
                    <a:pt x="20231" y="383004"/>
                  </a:lnTo>
                  <a:cubicBezTo>
                    <a:pt x="14865" y="383004"/>
                    <a:pt x="9719" y="380873"/>
                    <a:pt x="5925" y="377079"/>
                  </a:cubicBezTo>
                  <a:cubicBezTo>
                    <a:pt x="2131" y="373285"/>
                    <a:pt x="0" y="368139"/>
                    <a:pt x="0" y="362774"/>
                  </a:cubicBezTo>
                  <a:lnTo>
                    <a:pt x="0" y="20231"/>
                  </a:lnTo>
                  <a:cubicBezTo>
                    <a:pt x="0" y="14865"/>
                    <a:pt x="2131" y="9719"/>
                    <a:pt x="5925" y="5925"/>
                  </a:cubicBezTo>
                  <a:cubicBezTo>
                    <a:pt x="9719" y="2131"/>
                    <a:pt x="14865" y="0"/>
                    <a:pt x="20231" y="0"/>
                  </a:cubicBezTo>
                  <a:close/>
                </a:path>
              </a:pathLst>
            </a:custGeom>
            <a:gradFill rotWithShape="true">
              <a:gsLst>
                <a:gs pos="0">
                  <a:srgbClr val="65CED1">
                    <a:alpha val="100000"/>
                  </a:srgbClr>
                </a:gs>
                <a:gs pos="100000">
                  <a:srgbClr val="1F4E4F">
                    <a:alpha val="100000"/>
                  </a:srgbClr>
                </a:gs>
              </a:gsLst>
              <a:lin ang="2700000"/>
            </a:gradFill>
            <a:ln cap="sq">
              <a:noFill/>
              <a:prstDash val="solid"/>
              <a:miter/>
            </a:ln>
          </p:spPr>
        </p:sp>
        <p:sp>
          <p:nvSpPr>
            <p:cNvPr name="TextBox 14" id="14"/>
            <p:cNvSpPr txBox="true"/>
            <p:nvPr/>
          </p:nvSpPr>
          <p:spPr>
            <a:xfrm>
              <a:off x="0" y="-57150"/>
              <a:ext cx="1168957" cy="440154"/>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15" id="15"/>
          <p:cNvSpPr txBox="true"/>
          <p:nvPr/>
        </p:nvSpPr>
        <p:spPr>
          <a:xfrm rot="0">
            <a:off x="11797379" y="4946429"/>
            <a:ext cx="4033759" cy="3593461"/>
          </a:xfrm>
          <a:prstGeom prst="rect">
            <a:avLst/>
          </a:prstGeom>
        </p:spPr>
        <p:txBody>
          <a:bodyPr anchor="t" rtlCol="false" tIns="0" lIns="0" bIns="0" rIns="0">
            <a:spAutoFit/>
          </a:bodyPr>
          <a:lstStyle/>
          <a:p>
            <a:pPr algn="l" marL="687338" indent="-343669" lvl="1">
              <a:lnSpc>
                <a:spcPts val="4138"/>
              </a:lnSpc>
              <a:buFont typeface="Arial"/>
              <a:buChar char="•"/>
            </a:pPr>
            <a:r>
              <a:rPr lang="en-US" sz="3183" spc="-15">
                <a:solidFill>
                  <a:srgbClr val="343434"/>
                </a:solidFill>
                <a:latin typeface="HK Grotesk"/>
                <a:ea typeface="HK Grotesk"/>
                <a:cs typeface="HK Grotesk"/>
                <a:sym typeface="HK Grotesk"/>
              </a:rPr>
              <a:t>Packet inspection</a:t>
            </a:r>
          </a:p>
          <a:p>
            <a:pPr algn="l" marL="687338" indent="-343669" lvl="1">
              <a:lnSpc>
                <a:spcPts val="4138"/>
              </a:lnSpc>
              <a:buFont typeface="Arial"/>
              <a:buChar char="•"/>
            </a:pPr>
            <a:r>
              <a:rPr lang="en-US" sz="3183" spc="-15">
                <a:solidFill>
                  <a:srgbClr val="343434"/>
                </a:solidFill>
                <a:latin typeface="HK Grotesk"/>
                <a:ea typeface="HK Grotesk"/>
                <a:cs typeface="HK Grotesk"/>
                <a:sym typeface="HK Grotesk"/>
              </a:rPr>
              <a:t>Signature matching (known attacks)</a:t>
            </a:r>
          </a:p>
          <a:p>
            <a:pPr algn="l" marL="687338" indent="-343669" lvl="1">
              <a:lnSpc>
                <a:spcPts val="4138"/>
              </a:lnSpc>
              <a:buFont typeface="Arial"/>
              <a:buChar char="•"/>
            </a:pPr>
            <a:r>
              <a:rPr lang="en-US" sz="3183" spc="-15">
                <a:solidFill>
                  <a:srgbClr val="343434"/>
                </a:solidFill>
                <a:latin typeface="HK Grotesk"/>
                <a:ea typeface="HK Grotesk"/>
                <a:cs typeface="HK Grotesk"/>
                <a:sym typeface="HK Grotesk"/>
              </a:rPr>
              <a:t>Anomaly detection using machine learning</a:t>
            </a:r>
          </a:p>
          <a:p>
            <a:pPr algn="l" marL="0" indent="0" lvl="0">
              <a:lnSpc>
                <a:spcPts val="4138"/>
              </a:lnSpc>
              <a:spcBef>
                <a:spcPct val="0"/>
              </a:spcBef>
            </a:pPr>
          </a:p>
        </p:txBody>
      </p:sp>
      <p:sp>
        <p:nvSpPr>
          <p:cNvPr name="TextBox 16" id="16"/>
          <p:cNvSpPr txBox="true"/>
          <p:nvPr/>
        </p:nvSpPr>
        <p:spPr>
          <a:xfrm rot="0">
            <a:off x="12045188" y="3696573"/>
            <a:ext cx="3538142" cy="1228878"/>
          </a:xfrm>
          <a:prstGeom prst="rect">
            <a:avLst/>
          </a:prstGeom>
        </p:spPr>
        <p:txBody>
          <a:bodyPr anchor="t" rtlCol="false" tIns="0" lIns="0" bIns="0" rIns="0">
            <a:spAutoFit/>
          </a:bodyPr>
          <a:lstStyle/>
          <a:p>
            <a:pPr algn="ctr">
              <a:lnSpc>
                <a:spcPts val="2723"/>
              </a:lnSpc>
            </a:pPr>
            <a:r>
              <a:rPr lang="en-US" sz="2410">
                <a:solidFill>
                  <a:srgbClr val="FFFFFF"/>
                </a:solidFill>
                <a:latin typeface="Archivo Black"/>
                <a:ea typeface="Archivo Black"/>
                <a:cs typeface="Archivo Black"/>
                <a:sym typeface="Archivo Black"/>
              </a:rPr>
              <a:t>Parallel Processing in IDS</a:t>
            </a:r>
          </a:p>
          <a:p>
            <a:pPr algn="l">
              <a:lnSpc>
                <a:spcPts val="2158"/>
              </a:lnSpc>
            </a:pPr>
          </a:p>
          <a:p>
            <a:pPr algn="l">
              <a:lnSpc>
                <a:spcPts val="2158"/>
              </a:lnSpc>
            </a:pPr>
          </a:p>
        </p:txBody>
      </p:sp>
      <p:grpSp>
        <p:nvGrpSpPr>
          <p:cNvPr name="Group 17" id="17"/>
          <p:cNvGrpSpPr/>
          <p:nvPr/>
        </p:nvGrpSpPr>
        <p:grpSpPr>
          <a:xfrm rot="0">
            <a:off x="17259300" y="0"/>
            <a:ext cx="1028700" cy="10287000"/>
            <a:chOff x="0" y="0"/>
            <a:chExt cx="270933" cy="2709333"/>
          </a:xfrm>
        </p:grpSpPr>
        <p:sp>
          <p:nvSpPr>
            <p:cNvPr name="Freeform 18" id="18"/>
            <p:cNvSpPr/>
            <p:nvPr/>
          </p:nvSpPr>
          <p:spPr>
            <a:xfrm flipH="false" flipV="false" rot="0">
              <a:off x="0" y="0"/>
              <a:ext cx="270933" cy="2709333"/>
            </a:xfrm>
            <a:custGeom>
              <a:avLst/>
              <a:gdLst/>
              <a:ahLst/>
              <a:cxnLst/>
              <a:rect r="r" b="b" t="t" l="l"/>
              <a:pathLst>
                <a:path h="2709333" w="270933">
                  <a:moveTo>
                    <a:pt x="0" y="0"/>
                  </a:moveTo>
                  <a:lnTo>
                    <a:pt x="270933" y="0"/>
                  </a:lnTo>
                  <a:lnTo>
                    <a:pt x="270933" y="2709333"/>
                  </a:lnTo>
                  <a:lnTo>
                    <a:pt x="0" y="2709333"/>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19" id="19"/>
            <p:cNvSpPr txBox="true"/>
            <p:nvPr/>
          </p:nvSpPr>
          <p:spPr>
            <a:xfrm>
              <a:off x="0" y="-57150"/>
              <a:ext cx="270933" cy="2766483"/>
            </a:xfrm>
            <a:prstGeom prst="rect">
              <a:avLst/>
            </a:prstGeom>
          </p:spPr>
          <p:txBody>
            <a:bodyPr anchor="ctr" rtlCol="false" tIns="50800" lIns="50800" bIns="50800" rIns="50800"/>
            <a:lstStyle/>
            <a:p>
              <a:pPr algn="ctr" marL="0" indent="0" lvl="0">
                <a:lnSpc>
                  <a:spcPts val="3447"/>
                </a:lnSpc>
                <a:spcBef>
                  <a:spcPct val="0"/>
                </a:spcBef>
              </a:pPr>
            </a:p>
          </p:txBody>
        </p:sp>
      </p:gr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087248" y="3236346"/>
            <a:ext cx="3980157" cy="860798"/>
            <a:chOff x="0" y="0"/>
            <a:chExt cx="1350893" cy="292161"/>
          </a:xfrm>
        </p:grpSpPr>
        <p:sp>
          <p:nvSpPr>
            <p:cNvPr name="Freeform 3" id="3"/>
            <p:cNvSpPr/>
            <p:nvPr/>
          </p:nvSpPr>
          <p:spPr>
            <a:xfrm flipH="false" flipV="false" rot="0">
              <a:off x="0" y="0"/>
              <a:ext cx="1350893" cy="292161"/>
            </a:xfrm>
            <a:custGeom>
              <a:avLst/>
              <a:gdLst/>
              <a:ahLst/>
              <a:cxnLst/>
              <a:rect r="r" b="b" t="t" l="l"/>
              <a:pathLst>
                <a:path h="292161" w="1350893">
                  <a:moveTo>
                    <a:pt x="17506" y="0"/>
                  </a:moveTo>
                  <a:lnTo>
                    <a:pt x="1333386" y="0"/>
                  </a:lnTo>
                  <a:cubicBezTo>
                    <a:pt x="1338029" y="0"/>
                    <a:pt x="1342482" y="1844"/>
                    <a:pt x="1345765" y="5127"/>
                  </a:cubicBezTo>
                  <a:cubicBezTo>
                    <a:pt x="1349048" y="8410"/>
                    <a:pt x="1350893" y="12863"/>
                    <a:pt x="1350893" y="17506"/>
                  </a:cubicBezTo>
                  <a:lnTo>
                    <a:pt x="1350893" y="274655"/>
                  </a:lnTo>
                  <a:cubicBezTo>
                    <a:pt x="1350893" y="284323"/>
                    <a:pt x="1343055" y="292161"/>
                    <a:pt x="1333386" y="292161"/>
                  </a:cubicBezTo>
                  <a:lnTo>
                    <a:pt x="17506" y="292161"/>
                  </a:lnTo>
                  <a:cubicBezTo>
                    <a:pt x="7838" y="292161"/>
                    <a:pt x="0" y="284323"/>
                    <a:pt x="0" y="274655"/>
                  </a:cubicBezTo>
                  <a:lnTo>
                    <a:pt x="0" y="17506"/>
                  </a:lnTo>
                  <a:cubicBezTo>
                    <a:pt x="0" y="7838"/>
                    <a:pt x="7838" y="0"/>
                    <a:pt x="17506" y="0"/>
                  </a:cubicBezTo>
                  <a:close/>
                </a:path>
              </a:pathLst>
            </a:custGeom>
            <a:gradFill rotWithShape="true">
              <a:gsLst>
                <a:gs pos="0">
                  <a:srgbClr val="65CED1">
                    <a:alpha val="100000"/>
                  </a:srgbClr>
                </a:gs>
                <a:gs pos="100000">
                  <a:srgbClr val="1F4E4F">
                    <a:alpha val="100000"/>
                  </a:srgbClr>
                </a:gs>
              </a:gsLst>
              <a:lin ang="2700000"/>
            </a:gradFill>
            <a:ln cap="sq">
              <a:noFill/>
              <a:prstDash val="solid"/>
              <a:miter/>
            </a:ln>
          </p:spPr>
        </p:sp>
        <p:sp>
          <p:nvSpPr>
            <p:cNvPr name="TextBox 4" id="4"/>
            <p:cNvSpPr txBox="true"/>
            <p:nvPr/>
          </p:nvSpPr>
          <p:spPr>
            <a:xfrm>
              <a:off x="0" y="-57150"/>
              <a:ext cx="1350893" cy="349311"/>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5" id="5"/>
          <p:cNvSpPr txBox="true"/>
          <p:nvPr/>
        </p:nvSpPr>
        <p:spPr>
          <a:xfrm rot="0">
            <a:off x="1028700" y="1875585"/>
            <a:ext cx="9864642" cy="759822"/>
          </a:xfrm>
          <a:prstGeom prst="rect">
            <a:avLst/>
          </a:prstGeom>
        </p:spPr>
        <p:txBody>
          <a:bodyPr anchor="t" rtlCol="false" tIns="0" lIns="0" bIns="0" rIns="0">
            <a:spAutoFit/>
          </a:bodyPr>
          <a:lstStyle/>
          <a:p>
            <a:pPr algn="l">
              <a:lnSpc>
                <a:spcPts val="5776"/>
              </a:lnSpc>
            </a:pPr>
            <a:r>
              <a:rPr lang="en-US" sz="5112">
                <a:solidFill>
                  <a:srgbClr val="000000"/>
                </a:solidFill>
                <a:latin typeface="Archivo Black"/>
                <a:ea typeface="Archivo Black"/>
                <a:cs typeface="Archivo Black"/>
                <a:sym typeface="Archivo Black"/>
              </a:rPr>
              <a:t>Cont..</a:t>
            </a:r>
          </a:p>
        </p:txBody>
      </p:sp>
      <p:sp>
        <p:nvSpPr>
          <p:cNvPr name="TextBox 6" id="6"/>
          <p:cNvSpPr txBox="true"/>
          <p:nvPr/>
        </p:nvSpPr>
        <p:spPr>
          <a:xfrm rot="0">
            <a:off x="3400185" y="3330991"/>
            <a:ext cx="3354283" cy="766153"/>
          </a:xfrm>
          <a:prstGeom prst="rect">
            <a:avLst/>
          </a:prstGeom>
        </p:spPr>
        <p:txBody>
          <a:bodyPr anchor="t" rtlCol="false" tIns="0" lIns="0" bIns="0" rIns="0">
            <a:spAutoFit/>
          </a:bodyPr>
          <a:lstStyle/>
          <a:p>
            <a:pPr algn="l">
              <a:lnSpc>
                <a:spcPts val="2949"/>
              </a:lnSpc>
            </a:pPr>
            <a:r>
              <a:rPr lang="en-US" sz="2610">
                <a:solidFill>
                  <a:srgbClr val="FFFFFF"/>
                </a:solidFill>
                <a:latin typeface="Archivo Black"/>
                <a:ea typeface="Archivo Black"/>
                <a:cs typeface="Archivo Black"/>
                <a:sym typeface="Archivo Black"/>
              </a:rPr>
              <a:t>Aggregation &amp; Analysis</a:t>
            </a:r>
          </a:p>
        </p:txBody>
      </p:sp>
      <p:sp>
        <p:nvSpPr>
          <p:cNvPr name="TextBox 7" id="7"/>
          <p:cNvSpPr txBox="true"/>
          <p:nvPr/>
        </p:nvSpPr>
        <p:spPr>
          <a:xfrm rot="0">
            <a:off x="2836062" y="4668644"/>
            <a:ext cx="5103437" cy="2961788"/>
          </a:xfrm>
          <a:prstGeom prst="rect">
            <a:avLst/>
          </a:prstGeom>
        </p:spPr>
        <p:txBody>
          <a:bodyPr anchor="t" rtlCol="false" tIns="0" lIns="0" bIns="0" rIns="0">
            <a:spAutoFit/>
          </a:bodyPr>
          <a:lstStyle/>
          <a:p>
            <a:pPr algn="l" marL="655981" indent="-327990" lvl="1">
              <a:lnSpc>
                <a:spcPts val="3949"/>
              </a:lnSpc>
              <a:buFont typeface="Arial"/>
              <a:buChar char="•"/>
            </a:pPr>
            <a:r>
              <a:rPr lang="en-US" sz="3038" spc="-15">
                <a:solidFill>
                  <a:srgbClr val="343434"/>
                </a:solidFill>
                <a:latin typeface="HK Grotesk"/>
                <a:ea typeface="HK Grotesk"/>
                <a:cs typeface="HK Grotesk"/>
                <a:sym typeface="HK Grotesk"/>
              </a:rPr>
              <a:t>Results from all processors are combined.</a:t>
            </a:r>
          </a:p>
          <a:p>
            <a:pPr algn="l" marL="655981" indent="-327990" lvl="1">
              <a:lnSpc>
                <a:spcPts val="3949"/>
              </a:lnSpc>
              <a:buFont typeface="Arial"/>
              <a:buChar char="•"/>
            </a:pPr>
            <a:r>
              <a:rPr lang="en-US" sz="3038" spc="-15">
                <a:solidFill>
                  <a:srgbClr val="343434"/>
                </a:solidFill>
                <a:latin typeface="HK Grotesk"/>
                <a:ea typeface="HK Grotesk"/>
                <a:cs typeface="HK Grotesk"/>
                <a:sym typeface="HK Grotesk"/>
              </a:rPr>
              <a:t>Threat scores are calculated based on detected anomalies.</a:t>
            </a:r>
          </a:p>
          <a:p>
            <a:pPr algn="l" marL="0" indent="0" lvl="0">
              <a:lnSpc>
                <a:spcPts val="3949"/>
              </a:lnSpc>
              <a:spcBef>
                <a:spcPct val="0"/>
              </a:spcBef>
            </a:pPr>
          </a:p>
        </p:txBody>
      </p:sp>
      <p:grpSp>
        <p:nvGrpSpPr>
          <p:cNvPr name="Group 8" id="8"/>
          <p:cNvGrpSpPr/>
          <p:nvPr/>
        </p:nvGrpSpPr>
        <p:grpSpPr>
          <a:xfrm rot="0">
            <a:off x="10644599" y="3195961"/>
            <a:ext cx="3637372" cy="901183"/>
            <a:chOff x="0" y="0"/>
            <a:chExt cx="1234549" cy="305868"/>
          </a:xfrm>
        </p:grpSpPr>
        <p:sp>
          <p:nvSpPr>
            <p:cNvPr name="Freeform 9" id="9"/>
            <p:cNvSpPr/>
            <p:nvPr/>
          </p:nvSpPr>
          <p:spPr>
            <a:xfrm flipH="false" flipV="false" rot="0">
              <a:off x="0" y="0"/>
              <a:ext cx="1234549" cy="305868"/>
            </a:xfrm>
            <a:custGeom>
              <a:avLst/>
              <a:gdLst/>
              <a:ahLst/>
              <a:cxnLst/>
              <a:rect r="r" b="b" t="t" l="l"/>
              <a:pathLst>
                <a:path h="305868" w="1234549">
                  <a:moveTo>
                    <a:pt x="19156" y="0"/>
                  </a:moveTo>
                  <a:lnTo>
                    <a:pt x="1215393" y="0"/>
                  </a:lnTo>
                  <a:cubicBezTo>
                    <a:pt x="1220474" y="0"/>
                    <a:pt x="1225346" y="2018"/>
                    <a:pt x="1228938" y="5611"/>
                  </a:cubicBezTo>
                  <a:cubicBezTo>
                    <a:pt x="1232531" y="9203"/>
                    <a:pt x="1234549" y="14075"/>
                    <a:pt x="1234549" y="19156"/>
                  </a:cubicBezTo>
                  <a:lnTo>
                    <a:pt x="1234549" y="286712"/>
                  </a:lnTo>
                  <a:cubicBezTo>
                    <a:pt x="1234549" y="291792"/>
                    <a:pt x="1232531" y="296665"/>
                    <a:pt x="1228938" y="300257"/>
                  </a:cubicBezTo>
                  <a:cubicBezTo>
                    <a:pt x="1225346" y="303850"/>
                    <a:pt x="1220474" y="305868"/>
                    <a:pt x="1215393" y="305868"/>
                  </a:cubicBezTo>
                  <a:lnTo>
                    <a:pt x="19156" y="305868"/>
                  </a:lnTo>
                  <a:cubicBezTo>
                    <a:pt x="14075" y="305868"/>
                    <a:pt x="9203" y="303850"/>
                    <a:pt x="5611" y="300257"/>
                  </a:cubicBezTo>
                  <a:cubicBezTo>
                    <a:pt x="2018" y="296665"/>
                    <a:pt x="0" y="291792"/>
                    <a:pt x="0" y="286712"/>
                  </a:cubicBezTo>
                  <a:lnTo>
                    <a:pt x="0" y="19156"/>
                  </a:lnTo>
                  <a:cubicBezTo>
                    <a:pt x="0" y="14075"/>
                    <a:pt x="2018" y="9203"/>
                    <a:pt x="5611" y="5611"/>
                  </a:cubicBezTo>
                  <a:cubicBezTo>
                    <a:pt x="9203" y="2018"/>
                    <a:pt x="14075" y="0"/>
                    <a:pt x="19156" y="0"/>
                  </a:cubicBezTo>
                  <a:close/>
                </a:path>
              </a:pathLst>
            </a:custGeom>
            <a:gradFill rotWithShape="true">
              <a:gsLst>
                <a:gs pos="0">
                  <a:srgbClr val="65CED1">
                    <a:alpha val="100000"/>
                  </a:srgbClr>
                </a:gs>
                <a:gs pos="100000">
                  <a:srgbClr val="1F4E4F">
                    <a:alpha val="100000"/>
                  </a:srgbClr>
                </a:gs>
              </a:gsLst>
              <a:lin ang="2700000"/>
            </a:gradFill>
            <a:ln cap="sq">
              <a:noFill/>
              <a:prstDash val="solid"/>
              <a:miter/>
            </a:ln>
          </p:spPr>
        </p:sp>
        <p:sp>
          <p:nvSpPr>
            <p:cNvPr name="TextBox 10" id="10"/>
            <p:cNvSpPr txBox="true"/>
            <p:nvPr/>
          </p:nvSpPr>
          <p:spPr>
            <a:xfrm>
              <a:off x="0" y="-57150"/>
              <a:ext cx="1234549" cy="363018"/>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11" id="11"/>
          <p:cNvSpPr txBox="true"/>
          <p:nvPr/>
        </p:nvSpPr>
        <p:spPr>
          <a:xfrm rot="0">
            <a:off x="10771960" y="3481554"/>
            <a:ext cx="3382651" cy="944906"/>
          </a:xfrm>
          <a:prstGeom prst="rect">
            <a:avLst/>
          </a:prstGeom>
        </p:spPr>
        <p:txBody>
          <a:bodyPr anchor="t" rtlCol="false" tIns="0" lIns="0" bIns="0" rIns="0">
            <a:spAutoFit/>
          </a:bodyPr>
          <a:lstStyle/>
          <a:p>
            <a:pPr algn="l">
              <a:lnSpc>
                <a:spcPts val="3175"/>
              </a:lnSpc>
            </a:pPr>
            <a:r>
              <a:rPr lang="en-US" sz="2810">
                <a:solidFill>
                  <a:srgbClr val="FFFFFF"/>
                </a:solidFill>
                <a:latin typeface="Archivo Black"/>
                <a:ea typeface="Archivo Black"/>
                <a:cs typeface="Archivo Black"/>
                <a:sym typeface="Archivo Black"/>
              </a:rPr>
              <a:t>Real-Time Alerts</a:t>
            </a:r>
          </a:p>
          <a:p>
            <a:pPr algn="l">
              <a:lnSpc>
                <a:spcPts val="2158"/>
              </a:lnSpc>
            </a:pPr>
          </a:p>
          <a:p>
            <a:pPr algn="l">
              <a:lnSpc>
                <a:spcPts val="2158"/>
              </a:lnSpc>
            </a:pPr>
          </a:p>
        </p:txBody>
      </p:sp>
      <p:sp>
        <p:nvSpPr>
          <p:cNvPr name="TextBox 12" id="12"/>
          <p:cNvSpPr txBox="true"/>
          <p:nvPr/>
        </p:nvSpPr>
        <p:spPr>
          <a:xfrm rot="0">
            <a:off x="10644599" y="4464560"/>
            <a:ext cx="3908054" cy="2466488"/>
          </a:xfrm>
          <a:prstGeom prst="rect">
            <a:avLst/>
          </a:prstGeom>
        </p:spPr>
        <p:txBody>
          <a:bodyPr anchor="t" rtlCol="false" tIns="0" lIns="0" bIns="0" rIns="0">
            <a:spAutoFit/>
          </a:bodyPr>
          <a:lstStyle/>
          <a:p>
            <a:pPr algn="l">
              <a:lnSpc>
                <a:spcPts val="3949"/>
              </a:lnSpc>
            </a:pPr>
            <a:r>
              <a:rPr lang="en-US" sz="3038" spc="-15">
                <a:solidFill>
                  <a:srgbClr val="343434"/>
                </a:solidFill>
                <a:latin typeface="HK Grotesk"/>
                <a:ea typeface="HK Grotesk"/>
                <a:cs typeface="HK Grotesk"/>
                <a:sym typeface="HK Grotesk"/>
              </a:rPr>
              <a:t>If a threat is detected, the IDS sends alerts to the security team immediately.</a:t>
            </a:r>
          </a:p>
          <a:p>
            <a:pPr algn="l" marL="0" indent="0" lvl="0">
              <a:lnSpc>
                <a:spcPts val="3949"/>
              </a:lnSpc>
              <a:spcBef>
                <a:spcPct val="0"/>
              </a:spcBef>
            </a:pPr>
          </a:p>
        </p:txBody>
      </p:sp>
      <p:grpSp>
        <p:nvGrpSpPr>
          <p:cNvPr name="Group 13" id="13"/>
          <p:cNvGrpSpPr/>
          <p:nvPr/>
        </p:nvGrpSpPr>
        <p:grpSpPr>
          <a:xfrm rot="0">
            <a:off x="17259300" y="0"/>
            <a:ext cx="1028700" cy="10287000"/>
            <a:chOff x="0" y="0"/>
            <a:chExt cx="270933" cy="2709333"/>
          </a:xfrm>
        </p:grpSpPr>
        <p:sp>
          <p:nvSpPr>
            <p:cNvPr name="Freeform 14" id="14"/>
            <p:cNvSpPr/>
            <p:nvPr/>
          </p:nvSpPr>
          <p:spPr>
            <a:xfrm flipH="false" flipV="false" rot="0">
              <a:off x="0" y="0"/>
              <a:ext cx="270933" cy="2709333"/>
            </a:xfrm>
            <a:custGeom>
              <a:avLst/>
              <a:gdLst/>
              <a:ahLst/>
              <a:cxnLst/>
              <a:rect r="r" b="b" t="t" l="l"/>
              <a:pathLst>
                <a:path h="2709333" w="270933">
                  <a:moveTo>
                    <a:pt x="0" y="0"/>
                  </a:moveTo>
                  <a:lnTo>
                    <a:pt x="270933" y="0"/>
                  </a:lnTo>
                  <a:lnTo>
                    <a:pt x="270933" y="2709333"/>
                  </a:lnTo>
                  <a:lnTo>
                    <a:pt x="0" y="2709333"/>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15" id="15"/>
            <p:cNvSpPr txBox="true"/>
            <p:nvPr/>
          </p:nvSpPr>
          <p:spPr>
            <a:xfrm>
              <a:off x="0" y="-57150"/>
              <a:ext cx="270933" cy="2766483"/>
            </a:xfrm>
            <a:prstGeom prst="rect">
              <a:avLst/>
            </a:prstGeom>
          </p:spPr>
          <p:txBody>
            <a:bodyPr anchor="ctr" rtlCol="false" tIns="50800" lIns="50800" bIns="50800" rIns="50800"/>
            <a:lstStyle/>
            <a:p>
              <a:pPr algn="ctr" marL="0" indent="0" lvl="0">
                <a:lnSpc>
                  <a:spcPts val="3447"/>
                </a:lnSpc>
                <a:spcBef>
                  <a:spcPct val="0"/>
                </a:spcBef>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52179" y="1555243"/>
            <a:ext cx="17587471" cy="8037597"/>
          </a:xfrm>
          <a:custGeom>
            <a:avLst/>
            <a:gdLst/>
            <a:ahLst/>
            <a:cxnLst/>
            <a:rect r="r" b="b" t="t" l="l"/>
            <a:pathLst>
              <a:path h="8037597" w="17587471">
                <a:moveTo>
                  <a:pt x="0" y="0"/>
                </a:moveTo>
                <a:lnTo>
                  <a:pt x="17587471" y="0"/>
                </a:lnTo>
                <a:lnTo>
                  <a:pt x="17587471" y="8037597"/>
                </a:lnTo>
                <a:lnTo>
                  <a:pt x="0" y="8037597"/>
                </a:lnTo>
                <a:lnTo>
                  <a:pt x="0" y="0"/>
                </a:lnTo>
                <a:close/>
              </a:path>
            </a:pathLst>
          </a:custGeom>
          <a:blipFill>
            <a:blip r:embed="rId2"/>
            <a:stretch>
              <a:fillRect l="-7545" t="0" r="-7545" b="0"/>
            </a:stretch>
          </a:blipFill>
        </p:spPr>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8028682" cy="10287000"/>
            <a:chOff x="0" y="0"/>
            <a:chExt cx="2114550" cy="2709333"/>
          </a:xfrm>
        </p:grpSpPr>
        <p:sp>
          <p:nvSpPr>
            <p:cNvPr name="Freeform 3" id="3"/>
            <p:cNvSpPr/>
            <p:nvPr/>
          </p:nvSpPr>
          <p:spPr>
            <a:xfrm flipH="false" flipV="false" rot="0">
              <a:off x="0" y="0"/>
              <a:ext cx="2114550" cy="2709333"/>
            </a:xfrm>
            <a:custGeom>
              <a:avLst/>
              <a:gdLst/>
              <a:ahLst/>
              <a:cxnLst/>
              <a:rect r="r" b="b" t="t" l="l"/>
              <a:pathLst>
                <a:path h="2709333" w="2114550">
                  <a:moveTo>
                    <a:pt x="0" y="0"/>
                  </a:moveTo>
                  <a:lnTo>
                    <a:pt x="2114550" y="0"/>
                  </a:lnTo>
                  <a:lnTo>
                    <a:pt x="2114550" y="2709333"/>
                  </a:lnTo>
                  <a:lnTo>
                    <a:pt x="0" y="2709333"/>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2114550" cy="2766483"/>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AutoShape 5" id="5"/>
          <p:cNvSpPr/>
          <p:nvPr/>
        </p:nvSpPr>
        <p:spPr>
          <a:xfrm>
            <a:off x="1761915" y="4337690"/>
            <a:ext cx="6642274" cy="0"/>
          </a:xfrm>
          <a:prstGeom prst="line">
            <a:avLst/>
          </a:prstGeom>
          <a:ln cap="flat" w="28575">
            <a:solidFill>
              <a:srgbClr val="FFFFFF"/>
            </a:solidFill>
            <a:prstDash val="solid"/>
            <a:headEnd type="none" len="sm" w="sm"/>
            <a:tailEnd type="none" len="sm" w="sm"/>
          </a:ln>
        </p:spPr>
      </p:sp>
      <p:sp>
        <p:nvSpPr>
          <p:cNvPr name="AutoShape 6" id="6"/>
          <p:cNvSpPr/>
          <p:nvPr/>
        </p:nvSpPr>
        <p:spPr>
          <a:xfrm>
            <a:off x="1761915" y="5928624"/>
            <a:ext cx="6642274" cy="0"/>
          </a:xfrm>
          <a:prstGeom prst="line">
            <a:avLst/>
          </a:prstGeom>
          <a:ln cap="flat" w="28575">
            <a:solidFill>
              <a:srgbClr val="FFFFFF"/>
            </a:solidFill>
            <a:prstDash val="solid"/>
            <a:headEnd type="none" len="sm" w="sm"/>
            <a:tailEnd type="none" len="sm" w="sm"/>
          </a:ln>
        </p:spPr>
      </p:sp>
      <p:sp>
        <p:nvSpPr>
          <p:cNvPr name="TextBox 7" id="7"/>
          <p:cNvSpPr txBox="true"/>
          <p:nvPr/>
        </p:nvSpPr>
        <p:spPr>
          <a:xfrm rot="0">
            <a:off x="1761915" y="3149513"/>
            <a:ext cx="900317" cy="503109"/>
          </a:xfrm>
          <a:prstGeom prst="rect">
            <a:avLst/>
          </a:prstGeom>
        </p:spPr>
        <p:txBody>
          <a:bodyPr anchor="t" rtlCol="false" tIns="0" lIns="0" bIns="0" rIns="0">
            <a:spAutoFit/>
          </a:bodyPr>
          <a:lstStyle/>
          <a:p>
            <a:pPr algn="l">
              <a:lnSpc>
                <a:spcPts val="3918"/>
              </a:lnSpc>
            </a:pPr>
            <a:r>
              <a:rPr lang="en-US" sz="3467">
                <a:solidFill>
                  <a:srgbClr val="FFFFFF"/>
                </a:solidFill>
                <a:latin typeface="HK Grotesk"/>
                <a:ea typeface="HK Grotesk"/>
                <a:cs typeface="HK Grotesk"/>
                <a:sym typeface="HK Grotesk"/>
              </a:rPr>
              <a:t>01</a:t>
            </a:r>
          </a:p>
        </p:txBody>
      </p:sp>
      <p:sp>
        <p:nvSpPr>
          <p:cNvPr name="TextBox 8" id="8"/>
          <p:cNvSpPr txBox="true"/>
          <p:nvPr/>
        </p:nvSpPr>
        <p:spPr>
          <a:xfrm rot="0">
            <a:off x="1761915" y="4740447"/>
            <a:ext cx="900317" cy="503109"/>
          </a:xfrm>
          <a:prstGeom prst="rect">
            <a:avLst/>
          </a:prstGeom>
        </p:spPr>
        <p:txBody>
          <a:bodyPr anchor="t" rtlCol="false" tIns="0" lIns="0" bIns="0" rIns="0">
            <a:spAutoFit/>
          </a:bodyPr>
          <a:lstStyle/>
          <a:p>
            <a:pPr algn="l">
              <a:lnSpc>
                <a:spcPts val="3918"/>
              </a:lnSpc>
            </a:pPr>
            <a:r>
              <a:rPr lang="en-US" sz="3467">
                <a:solidFill>
                  <a:srgbClr val="FFFFFF"/>
                </a:solidFill>
                <a:latin typeface="HK Grotesk"/>
                <a:ea typeface="HK Grotesk"/>
                <a:cs typeface="HK Grotesk"/>
                <a:sym typeface="HK Grotesk"/>
              </a:rPr>
              <a:t>02</a:t>
            </a:r>
          </a:p>
        </p:txBody>
      </p:sp>
      <p:sp>
        <p:nvSpPr>
          <p:cNvPr name="TextBox 9" id="9"/>
          <p:cNvSpPr txBox="true"/>
          <p:nvPr/>
        </p:nvSpPr>
        <p:spPr>
          <a:xfrm rot="0">
            <a:off x="2662232" y="3149513"/>
            <a:ext cx="2873427" cy="674593"/>
          </a:xfrm>
          <a:prstGeom prst="rect">
            <a:avLst/>
          </a:prstGeom>
        </p:spPr>
        <p:txBody>
          <a:bodyPr anchor="t" rtlCol="false" tIns="0" lIns="0" bIns="0" rIns="0">
            <a:spAutoFit/>
          </a:bodyPr>
          <a:lstStyle/>
          <a:p>
            <a:pPr algn="l">
              <a:lnSpc>
                <a:spcPts val="2685"/>
              </a:lnSpc>
            </a:pPr>
            <a:r>
              <a:rPr lang="en-US" sz="2376">
                <a:solidFill>
                  <a:srgbClr val="FFFFFF"/>
                </a:solidFill>
                <a:latin typeface="HK Grotesk"/>
                <a:ea typeface="HK Grotesk"/>
                <a:cs typeface="HK Grotesk"/>
                <a:sym typeface="HK Grotesk"/>
              </a:rPr>
              <a:t>Automated Threat Detection</a:t>
            </a:r>
          </a:p>
        </p:txBody>
      </p:sp>
      <p:sp>
        <p:nvSpPr>
          <p:cNvPr name="TextBox 10" id="10"/>
          <p:cNvSpPr txBox="true"/>
          <p:nvPr/>
        </p:nvSpPr>
        <p:spPr>
          <a:xfrm rot="0">
            <a:off x="2662232" y="4740447"/>
            <a:ext cx="2873427" cy="674593"/>
          </a:xfrm>
          <a:prstGeom prst="rect">
            <a:avLst/>
          </a:prstGeom>
        </p:spPr>
        <p:txBody>
          <a:bodyPr anchor="t" rtlCol="false" tIns="0" lIns="0" bIns="0" rIns="0">
            <a:spAutoFit/>
          </a:bodyPr>
          <a:lstStyle/>
          <a:p>
            <a:pPr algn="l">
              <a:lnSpc>
                <a:spcPts val="2685"/>
              </a:lnSpc>
            </a:pPr>
            <a:r>
              <a:rPr lang="en-US" sz="2376">
                <a:solidFill>
                  <a:srgbClr val="FFFFFF"/>
                </a:solidFill>
                <a:latin typeface="HK Grotesk"/>
                <a:ea typeface="HK Grotesk"/>
                <a:cs typeface="HK Grotesk"/>
                <a:sym typeface="HK Grotesk"/>
              </a:rPr>
              <a:t>Proactive Threat Prevention</a:t>
            </a:r>
          </a:p>
        </p:txBody>
      </p:sp>
      <p:sp>
        <p:nvSpPr>
          <p:cNvPr name="TextBox 11" id="11"/>
          <p:cNvSpPr txBox="true"/>
          <p:nvPr/>
        </p:nvSpPr>
        <p:spPr>
          <a:xfrm rot="0">
            <a:off x="8597480" y="3139988"/>
            <a:ext cx="6900797" cy="770181"/>
          </a:xfrm>
          <a:prstGeom prst="rect">
            <a:avLst/>
          </a:prstGeom>
        </p:spPr>
        <p:txBody>
          <a:bodyPr anchor="t" rtlCol="false" tIns="0" lIns="0" bIns="0" rIns="0">
            <a:spAutoFit/>
          </a:bodyPr>
          <a:lstStyle/>
          <a:p>
            <a:pPr algn="l" marL="0" indent="0" lvl="0">
              <a:lnSpc>
                <a:spcPts val="2077"/>
              </a:lnSpc>
              <a:spcBef>
                <a:spcPct val="0"/>
              </a:spcBef>
            </a:pPr>
            <a:r>
              <a:rPr lang="en-US" sz="1598" spc="-7">
                <a:solidFill>
                  <a:srgbClr val="343434"/>
                </a:solidFill>
                <a:latin typeface="HK Grotesk"/>
                <a:ea typeface="HK Grotesk"/>
                <a:cs typeface="HK Grotesk"/>
                <a:sym typeface="HK Grotesk"/>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2" id="12"/>
          <p:cNvSpPr txBox="true"/>
          <p:nvPr/>
        </p:nvSpPr>
        <p:spPr>
          <a:xfrm rot="0">
            <a:off x="8597480" y="4663950"/>
            <a:ext cx="6900797" cy="770181"/>
          </a:xfrm>
          <a:prstGeom prst="rect">
            <a:avLst/>
          </a:prstGeom>
        </p:spPr>
        <p:txBody>
          <a:bodyPr anchor="t" rtlCol="false" tIns="0" lIns="0" bIns="0" rIns="0">
            <a:spAutoFit/>
          </a:bodyPr>
          <a:lstStyle/>
          <a:p>
            <a:pPr algn="l" marL="0" indent="0" lvl="0">
              <a:lnSpc>
                <a:spcPts val="2077"/>
              </a:lnSpc>
              <a:spcBef>
                <a:spcPct val="0"/>
              </a:spcBef>
            </a:pPr>
            <a:r>
              <a:rPr lang="en-US" sz="1598" spc="-7">
                <a:solidFill>
                  <a:srgbClr val="343434"/>
                </a:solidFill>
                <a:latin typeface="HK Grotesk"/>
                <a:ea typeface="HK Grotesk"/>
                <a:cs typeface="HK Grotesk"/>
                <a:sym typeface="HK Grotesk"/>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3" id="13"/>
          <p:cNvSpPr txBox="true"/>
          <p:nvPr/>
        </p:nvSpPr>
        <p:spPr>
          <a:xfrm rot="0">
            <a:off x="1028700" y="996619"/>
            <a:ext cx="8115300" cy="1466351"/>
          </a:xfrm>
          <a:prstGeom prst="rect">
            <a:avLst/>
          </a:prstGeom>
        </p:spPr>
        <p:txBody>
          <a:bodyPr anchor="t" rtlCol="false" tIns="0" lIns="0" bIns="0" rIns="0">
            <a:spAutoFit/>
          </a:bodyPr>
          <a:lstStyle/>
          <a:p>
            <a:pPr algn="l">
              <a:lnSpc>
                <a:spcPts val="5742"/>
              </a:lnSpc>
            </a:pPr>
            <a:r>
              <a:rPr lang="en-US" sz="5081">
                <a:solidFill>
                  <a:srgbClr val="FFFFFF"/>
                </a:solidFill>
                <a:latin typeface="Archivo Black"/>
                <a:ea typeface="Archivo Black"/>
                <a:cs typeface="Archivo Black"/>
                <a:sym typeface="Archivo Black"/>
              </a:rPr>
              <a:t>The Role of AI in Cybersecurity</a:t>
            </a:r>
          </a:p>
        </p:txBody>
      </p:sp>
      <p:sp>
        <p:nvSpPr>
          <p:cNvPr name="AutoShape 14" id="14"/>
          <p:cNvSpPr/>
          <p:nvPr/>
        </p:nvSpPr>
        <p:spPr>
          <a:xfrm>
            <a:off x="8028682" y="4337690"/>
            <a:ext cx="7565689" cy="0"/>
          </a:xfrm>
          <a:prstGeom prst="line">
            <a:avLst/>
          </a:prstGeom>
          <a:ln cap="flat" w="28575">
            <a:solidFill>
              <a:srgbClr val="000000"/>
            </a:solidFill>
            <a:prstDash val="solid"/>
            <a:headEnd type="none" len="sm" w="sm"/>
            <a:tailEnd type="none" len="sm" w="sm"/>
          </a:ln>
        </p:spPr>
      </p:sp>
      <p:sp>
        <p:nvSpPr>
          <p:cNvPr name="AutoShape 15" id="15"/>
          <p:cNvSpPr/>
          <p:nvPr/>
        </p:nvSpPr>
        <p:spPr>
          <a:xfrm>
            <a:off x="8028682" y="5928624"/>
            <a:ext cx="7565689" cy="0"/>
          </a:xfrm>
          <a:prstGeom prst="line">
            <a:avLst/>
          </a:prstGeom>
          <a:ln cap="flat" w="28575">
            <a:solidFill>
              <a:srgbClr val="000000"/>
            </a:solidFill>
            <a:prstDash val="solid"/>
            <a:headEnd type="none" len="sm" w="sm"/>
            <a:tailEnd type="none" len="sm" w="sm"/>
          </a:ln>
        </p:spPr>
      </p:sp>
      <p:grpSp>
        <p:nvGrpSpPr>
          <p:cNvPr name="Group 16" id="16"/>
          <p:cNvGrpSpPr/>
          <p:nvPr/>
        </p:nvGrpSpPr>
        <p:grpSpPr>
          <a:xfrm rot="0">
            <a:off x="15558218" y="4150405"/>
            <a:ext cx="1411613" cy="338418"/>
            <a:chOff x="0" y="0"/>
            <a:chExt cx="465702" cy="111647"/>
          </a:xfrm>
        </p:grpSpPr>
        <p:sp>
          <p:nvSpPr>
            <p:cNvPr name="Freeform 17" id="17"/>
            <p:cNvSpPr/>
            <p:nvPr/>
          </p:nvSpPr>
          <p:spPr>
            <a:xfrm flipH="false" flipV="false" rot="0">
              <a:off x="0" y="0"/>
              <a:ext cx="465702" cy="111647"/>
            </a:xfrm>
            <a:custGeom>
              <a:avLst/>
              <a:gdLst/>
              <a:ahLst/>
              <a:cxnLst/>
              <a:rect r="r" b="b" t="t" l="l"/>
              <a:pathLst>
                <a:path h="111647" w="465702">
                  <a:moveTo>
                    <a:pt x="55823" y="0"/>
                  </a:moveTo>
                  <a:lnTo>
                    <a:pt x="409879" y="0"/>
                  </a:lnTo>
                  <a:cubicBezTo>
                    <a:pt x="440709" y="0"/>
                    <a:pt x="465702" y="24993"/>
                    <a:pt x="465702" y="55823"/>
                  </a:cubicBezTo>
                  <a:lnTo>
                    <a:pt x="465702" y="55823"/>
                  </a:lnTo>
                  <a:cubicBezTo>
                    <a:pt x="465702" y="70629"/>
                    <a:pt x="459821" y="84828"/>
                    <a:pt x="449352" y="95296"/>
                  </a:cubicBezTo>
                  <a:cubicBezTo>
                    <a:pt x="438883" y="105765"/>
                    <a:pt x="424684" y="111647"/>
                    <a:pt x="409879" y="111647"/>
                  </a:cubicBezTo>
                  <a:lnTo>
                    <a:pt x="55823" y="111647"/>
                  </a:lnTo>
                  <a:cubicBezTo>
                    <a:pt x="24993" y="111647"/>
                    <a:pt x="0" y="86654"/>
                    <a:pt x="0" y="55823"/>
                  </a:cubicBezTo>
                  <a:lnTo>
                    <a:pt x="0" y="55823"/>
                  </a:lnTo>
                  <a:cubicBezTo>
                    <a:pt x="0" y="24993"/>
                    <a:pt x="24993" y="0"/>
                    <a:pt x="55823" y="0"/>
                  </a:cubicBezTo>
                  <a:close/>
                </a:path>
              </a:pathLst>
            </a:custGeom>
            <a:gradFill rotWithShape="true">
              <a:gsLst>
                <a:gs pos="0">
                  <a:srgbClr val="65CED1">
                    <a:alpha val="100000"/>
                  </a:srgbClr>
                </a:gs>
                <a:gs pos="100000">
                  <a:srgbClr val="1F4E4F">
                    <a:alpha val="100000"/>
                  </a:srgbClr>
                </a:gs>
              </a:gsLst>
              <a:lin ang="2700000"/>
            </a:gradFill>
          </p:spPr>
        </p:sp>
        <p:sp>
          <p:nvSpPr>
            <p:cNvPr name="TextBox 18" id="18"/>
            <p:cNvSpPr txBox="true"/>
            <p:nvPr/>
          </p:nvSpPr>
          <p:spPr>
            <a:xfrm>
              <a:off x="0" y="-57150"/>
              <a:ext cx="465702" cy="168797"/>
            </a:xfrm>
            <a:prstGeom prst="rect">
              <a:avLst/>
            </a:prstGeom>
          </p:spPr>
          <p:txBody>
            <a:bodyPr anchor="ctr" rtlCol="false" tIns="50800" lIns="50800" bIns="50800" rIns="50800"/>
            <a:lstStyle/>
            <a:p>
              <a:pPr algn="ctr">
                <a:lnSpc>
                  <a:spcPts val="3447"/>
                </a:lnSpc>
              </a:pPr>
            </a:p>
          </p:txBody>
        </p:sp>
      </p:grpSp>
      <p:grpSp>
        <p:nvGrpSpPr>
          <p:cNvPr name="Group 19" id="19"/>
          <p:cNvGrpSpPr/>
          <p:nvPr/>
        </p:nvGrpSpPr>
        <p:grpSpPr>
          <a:xfrm rot="0">
            <a:off x="15558218" y="5741339"/>
            <a:ext cx="1411613" cy="338418"/>
            <a:chOff x="0" y="0"/>
            <a:chExt cx="465702" cy="111647"/>
          </a:xfrm>
        </p:grpSpPr>
        <p:sp>
          <p:nvSpPr>
            <p:cNvPr name="Freeform 20" id="20"/>
            <p:cNvSpPr/>
            <p:nvPr/>
          </p:nvSpPr>
          <p:spPr>
            <a:xfrm flipH="false" flipV="false" rot="0">
              <a:off x="0" y="0"/>
              <a:ext cx="465702" cy="111647"/>
            </a:xfrm>
            <a:custGeom>
              <a:avLst/>
              <a:gdLst/>
              <a:ahLst/>
              <a:cxnLst/>
              <a:rect r="r" b="b" t="t" l="l"/>
              <a:pathLst>
                <a:path h="111647" w="465702">
                  <a:moveTo>
                    <a:pt x="55823" y="0"/>
                  </a:moveTo>
                  <a:lnTo>
                    <a:pt x="409879" y="0"/>
                  </a:lnTo>
                  <a:cubicBezTo>
                    <a:pt x="440709" y="0"/>
                    <a:pt x="465702" y="24993"/>
                    <a:pt x="465702" y="55823"/>
                  </a:cubicBezTo>
                  <a:lnTo>
                    <a:pt x="465702" y="55823"/>
                  </a:lnTo>
                  <a:cubicBezTo>
                    <a:pt x="465702" y="70629"/>
                    <a:pt x="459821" y="84828"/>
                    <a:pt x="449352" y="95296"/>
                  </a:cubicBezTo>
                  <a:cubicBezTo>
                    <a:pt x="438883" y="105765"/>
                    <a:pt x="424684" y="111647"/>
                    <a:pt x="409879" y="111647"/>
                  </a:cubicBezTo>
                  <a:lnTo>
                    <a:pt x="55823" y="111647"/>
                  </a:lnTo>
                  <a:cubicBezTo>
                    <a:pt x="24993" y="111647"/>
                    <a:pt x="0" y="86654"/>
                    <a:pt x="0" y="55823"/>
                  </a:cubicBezTo>
                  <a:lnTo>
                    <a:pt x="0" y="55823"/>
                  </a:lnTo>
                  <a:cubicBezTo>
                    <a:pt x="0" y="24993"/>
                    <a:pt x="24993" y="0"/>
                    <a:pt x="55823" y="0"/>
                  </a:cubicBezTo>
                  <a:close/>
                </a:path>
              </a:pathLst>
            </a:custGeom>
            <a:gradFill rotWithShape="true">
              <a:gsLst>
                <a:gs pos="0">
                  <a:srgbClr val="65CED1">
                    <a:alpha val="100000"/>
                  </a:srgbClr>
                </a:gs>
                <a:gs pos="100000">
                  <a:srgbClr val="1F4E4F">
                    <a:alpha val="100000"/>
                  </a:srgbClr>
                </a:gs>
              </a:gsLst>
              <a:lin ang="2700000"/>
            </a:gradFill>
          </p:spPr>
        </p:sp>
        <p:sp>
          <p:nvSpPr>
            <p:cNvPr name="TextBox 21" id="21"/>
            <p:cNvSpPr txBox="true"/>
            <p:nvPr/>
          </p:nvSpPr>
          <p:spPr>
            <a:xfrm>
              <a:off x="0" y="-57150"/>
              <a:ext cx="465702" cy="168797"/>
            </a:xfrm>
            <a:prstGeom prst="rect">
              <a:avLst/>
            </a:prstGeom>
          </p:spPr>
          <p:txBody>
            <a:bodyPr anchor="ctr" rtlCol="false" tIns="50800" lIns="50800" bIns="50800" rIns="50800"/>
            <a:lstStyle/>
            <a:p>
              <a:pPr algn="ctr">
                <a:lnSpc>
                  <a:spcPts val="3447"/>
                </a:lnSpc>
              </a:pPr>
            </a:p>
          </p:txBody>
        </p:sp>
      </p:grpSp>
      <p:sp>
        <p:nvSpPr>
          <p:cNvPr name="AutoShape 22" id="22"/>
          <p:cNvSpPr/>
          <p:nvPr/>
        </p:nvSpPr>
        <p:spPr>
          <a:xfrm>
            <a:off x="1761915" y="7519558"/>
            <a:ext cx="6642274" cy="0"/>
          </a:xfrm>
          <a:prstGeom prst="line">
            <a:avLst/>
          </a:prstGeom>
          <a:ln cap="flat" w="28575">
            <a:solidFill>
              <a:srgbClr val="FFFFFF"/>
            </a:solidFill>
            <a:prstDash val="solid"/>
            <a:headEnd type="none" len="sm" w="sm"/>
            <a:tailEnd type="none" len="sm" w="sm"/>
          </a:ln>
        </p:spPr>
      </p:sp>
      <p:sp>
        <p:nvSpPr>
          <p:cNvPr name="AutoShape 23" id="23"/>
          <p:cNvSpPr/>
          <p:nvPr/>
        </p:nvSpPr>
        <p:spPr>
          <a:xfrm>
            <a:off x="1761915" y="9210838"/>
            <a:ext cx="6642274" cy="0"/>
          </a:xfrm>
          <a:prstGeom prst="line">
            <a:avLst/>
          </a:prstGeom>
          <a:ln cap="flat" w="28575">
            <a:solidFill>
              <a:srgbClr val="FFFFFF"/>
            </a:solidFill>
            <a:prstDash val="solid"/>
            <a:headEnd type="none" len="sm" w="sm"/>
            <a:tailEnd type="none" len="sm" w="sm"/>
          </a:ln>
        </p:spPr>
      </p:sp>
      <p:sp>
        <p:nvSpPr>
          <p:cNvPr name="TextBox 24" id="24"/>
          <p:cNvSpPr txBox="true"/>
          <p:nvPr/>
        </p:nvSpPr>
        <p:spPr>
          <a:xfrm rot="0">
            <a:off x="1761915" y="6331381"/>
            <a:ext cx="900317" cy="503109"/>
          </a:xfrm>
          <a:prstGeom prst="rect">
            <a:avLst/>
          </a:prstGeom>
        </p:spPr>
        <p:txBody>
          <a:bodyPr anchor="t" rtlCol="false" tIns="0" lIns="0" bIns="0" rIns="0">
            <a:spAutoFit/>
          </a:bodyPr>
          <a:lstStyle/>
          <a:p>
            <a:pPr algn="l">
              <a:lnSpc>
                <a:spcPts val="3918"/>
              </a:lnSpc>
            </a:pPr>
            <a:r>
              <a:rPr lang="en-US" sz="3467">
                <a:solidFill>
                  <a:srgbClr val="FFFFFF"/>
                </a:solidFill>
                <a:latin typeface="HK Grotesk"/>
                <a:ea typeface="HK Grotesk"/>
                <a:cs typeface="HK Grotesk"/>
                <a:sym typeface="HK Grotesk"/>
              </a:rPr>
              <a:t>03</a:t>
            </a:r>
          </a:p>
        </p:txBody>
      </p:sp>
      <p:sp>
        <p:nvSpPr>
          <p:cNvPr name="TextBox 25" id="25"/>
          <p:cNvSpPr txBox="true"/>
          <p:nvPr/>
        </p:nvSpPr>
        <p:spPr>
          <a:xfrm rot="0">
            <a:off x="2662232" y="6331381"/>
            <a:ext cx="2873427" cy="674593"/>
          </a:xfrm>
          <a:prstGeom prst="rect">
            <a:avLst/>
          </a:prstGeom>
        </p:spPr>
        <p:txBody>
          <a:bodyPr anchor="t" rtlCol="false" tIns="0" lIns="0" bIns="0" rIns="0">
            <a:spAutoFit/>
          </a:bodyPr>
          <a:lstStyle/>
          <a:p>
            <a:pPr algn="l">
              <a:lnSpc>
                <a:spcPts val="2685"/>
              </a:lnSpc>
            </a:pPr>
            <a:r>
              <a:rPr lang="en-US" sz="2376">
                <a:solidFill>
                  <a:srgbClr val="FFFFFF"/>
                </a:solidFill>
                <a:latin typeface="HK Grotesk"/>
                <a:ea typeface="HK Grotesk"/>
                <a:cs typeface="HK Grotesk"/>
                <a:sym typeface="HK Grotesk"/>
              </a:rPr>
              <a:t>Enhanced Security Posture</a:t>
            </a:r>
          </a:p>
        </p:txBody>
      </p:sp>
      <p:sp>
        <p:nvSpPr>
          <p:cNvPr name="AutoShape 26" id="26"/>
          <p:cNvSpPr/>
          <p:nvPr/>
        </p:nvSpPr>
        <p:spPr>
          <a:xfrm>
            <a:off x="8028682" y="7519558"/>
            <a:ext cx="7565689" cy="0"/>
          </a:xfrm>
          <a:prstGeom prst="line">
            <a:avLst/>
          </a:prstGeom>
          <a:ln cap="flat" w="28575">
            <a:solidFill>
              <a:srgbClr val="000000"/>
            </a:solidFill>
            <a:prstDash val="solid"/>
            <a:headEnd type="none" len="sm" w="sm"/>
            <a:tailEnd type="none" len="sm" w="sm"/>
          </a:ln>
        </p:spPr>
      </p:sp>
      <p:sp>
        <p:nvSpPr>
          <p:cNvPr name="AutoShape 27" id="27"/>
          <p:cNvSpPr/>
          <p:nvPr/>
        </p:nvSpPr>
        <p:spPr>
          <a:xfrm>
            <a:off x="8028682" y="9210838"/>
            <a:ext cx="7565689" cy="0"/>
          </a:xfrm>
          <a:prstGeom prst="line">
            <a:avLst/>
          </a:prstGeom>
          <a:ln cap="flat" w="28575">
            <a:solidFill>
              <a:srgbClr val="000000"/>
            </a:solidFill>
            <a:prstDash val="solid"/>
            <a:headEnd type="none" len="sm" w="sm"/>
            <a:tailEnd type="none" len="sm" w="sm"/>
          </a:ln>
        </p:spPr>
      </p:sp>
      <p:grpSp>
        <p:nvGrpSpPr>
          <p:cNvPr name="Group 28" id="28"/>
          <p:cNvGrpSpPr/>
          <p:nvPr/>
        </p:nvGrpSpPr>
        <p:grpSpPr>
          <a:xfrm rot="0">
            <a:off x="15558218" y="7332273"/>
            <a:ext cx="1411613" cy="338418"/>
            <a:chOff x="0" y="0"/>
            <a:chExt cx="465702" cy="111647"/>
          </a:xfrm>
        </p:grpSpPr>
        <p:sp>
          <p:nvSpPr>
            <p:cNvPr name="Freeform 29" id="29"/>
            <p:cNvSpPr/>
            <p:nvPr/>
          </p:nvSpPr>
          <p:spPr>
            <a:xfrm flipH="false" flipV="false" rot="0">
              <a:off x="0" y="0"/>
              <a:ext cx="465702" cy="111647"/>
            </a:xfrm>
            <a:custGeom>
              <a:avLst/>
              <a:gdLst/>
              <a:ahLst/>
              <a:cxnLst/>
              <a:rect r="r" b="b" t="t" l="l"/>
              <a:pathLst>
                <a:path h="111647" w="465702">
                  <a:moveTo>
                    <a:pt x="55823" y="0"/>
                  </a:moveTo>
                  <a:lnTo>
                    <a:pt x="409879" y="0"/>
                  </a:lnTo>
                  <a:cubicBezTo>
                    <a:pt x="440709" y="0"/>
                    <a:pt x="465702" y="24993"/>
                    <a:pt x="465702" y="55823"/>
                  </a:cubicBezTo>
                  <a:lnTo>
                    <a:pt x="465702" y="55823"/>
                  </a:lnTo>
                  <a:cubicBezTo>
                    <a:pt x="465702" y="70629"/>
                    <a:pt x="459821" y="84828"/>
                    <a:pt x="449352" y="95296"/>
                  </a:cubicBezTo>
                  <a:cubicBezTo>
                    <a:pt x="438883" y="105765"/>
                    <a:pt x="424684" y="111647"/>
                    <a:pt x="409879" y="111647"/>
                  </a:cubicBezTo>
                  <a:lnTo>
                    <a:pt x="55823" y="111647"/>
                  </a:lnTo>
                  <a:cubicBezTo>
                    <a:pt x="24993" y="111647"/>
                    <a:pt x="0" y="86654"/>
                    <a:pt x="0" y="55823"/>
                  </a:cubicBezTo>
                  <a:lnTo>
                    <a:pt x="0" y="55823"/>
                  </a:lnTo>
                  <a:cubicBezTo>
                    <a:pt x="0" y="24993"/>
                    <a:pt x="24993" y="0"/>
                    <a:pt x="55823" y="0"/>
                  </a:cubicBezTo>
                  <a:close/>
                </a:path>
              </a:pathLst>
            </a:custGeom>
            <a:gradFill rotWithShape="true">
              <a:gsLst>
                <a:gs pos="0">
                  <a:srgbClr val="65CED1">
                    <a:alpha val="100000"/>
                  </a:srgbClr>
                </a:gs>
                <a:gs pos="100000">
                  <a:srgbClr val="1F4E4F">
                    <a:alpha val="100000"/>
                  </a:srgbClr>
                </a:gs>
              </a:gsLst>
              <a:lin ang="2700000"/>
            </a:gradFill>
          </p:spPr>
        </p:sp>
        <p:sp>
          <p:nvSpPr>
            <p:cNvPr name="TextBox 30" id="30"/>
            <p:cNvSpPr txBox="true"/>
            <p:nvPr/>
          </p:nvSpPr>
          <p:spPr>
            <a:xfrm>
              <a:off x="0" y="-57150"/>
              <a:ext cx="465702" cy="168797"/>
            </a:xfrm>
            <a:prstGeom prst="rect">
              <a:avLst/>
            </a:prstGeom>
          </p:spPr>
          <p:txBody>
            <a:bodyPr anchor="ctr" rtlCol="false" tIns="50800" lIns="50800" bIns="50800" rIns="50800"/>
            <a:lstStyle/>
            <a:p>
              <a:pPr algn="ctr">
                <a:lnSpc>
                  <a:spcPts val="3447"/>
                </a:lnSpc>
              </a:pPr>
            </a:p>
          </p:txBody>
        </p:sp>
      </p:grpSp>
      <p:grpSp>
        <p:nvGrpSpPr>
          <p:cNvPr name="Group 31" id="31"/>
          <p:cNvGrpSpPr/>
          <p:nvPr/>
        </p:nvGrpSpPr>
        <p:grpSpPr>
          <a:xfrm rot="0">
            <a:off x="15558218" y="9023552"/>
            <a:ext cx="1411613" cy="338418"/>
            <a:chOff x="0" y="0"/>
            <a:chExt cx="465702" cy="111647"/>
          </a:xfrm>
        </p:grpSpPr>
        <p:sp>
          <p:nvSpPr>
            <p:cNvPr name="Freeform 32" id="32"/>
            <p:cNvSpPr/>
            <p:nvPr/>
          </p:nvSpPr>
          <p:spPr>
            <a:xfrm flipH="false" flipV="false" rot="0">
              <a:off x="0" y="0"/>
              <a:ext cx="465702" cy="111647"/>
            </a:xfrm>
            <a:custGeom>
              <a:avLst/>
              <a:gdLst/>
              <a:ahLst/>
              <a:cxnLst/>
              <a:rect r="r" b="b" t="t" l="l"/>
              <a:pathLst>
                <a:path h="111647" w="465702">
                  <a:moveTo>
                    <a:pt x="55823" y="0"/>
                  </a:moveTo>
                  <a:lnTo>
                    <a:pt x="409879" y="0"/>
                  </a:lnTo>
                  <a:cubicBezTo>
                    <a:pt x="440709" y="0"/>
                    <a:pt x="465702" y="24993"/>
                    <a:pt x="465702" y="55823"/>
                  </a:cubicBezTo>
                  <a:lnTo>
                    <a:pt x="465702" y="55823"/>
                  </a:lnTo>
                  <a:cubicBezTo>
                    <a:pt x="465702" y="70629"/>
                    <a:pt x="459821" y="84828"/>
                    <a:pt x="449352" y="95296"/>
                  </a:cubicBezTo>
                  <a:cubicBezTo>
                    <a:pt x="438883" y="105765"/>
                    <a:pt x="424684" y="111647"/>
                    <a:pt x="409879" y="111647"/>
                  </a:cubicBezTo>
                  <a:lnTo>
                    <a:pt x="55823" y="111647"/>
                  </a:lnTo>
                  <a:cubicBezTo>
                    <a:pt x="24993" y="111647"/>
                    <a:pt x="0" y="86654"/>
                    <a:pt x="0" y="55823"/>
                  </a:cubicBezTo>
                  <a:lnTo>
                    <a:pt x="0" y="55823"/>
                  </a:lnTo>
                  <a:cubicBezTo>
                    <a:pt x="0" y="24993"/>
                    <a:pt x="24993" y="0"/>
                    <a:pt x="55823" y="0"/>
                  </a:cubicBezTo>
                  <a:close/>
                </a:path>
              </a:pathLst>
            </a:custGeom>
            <a:gradFill rotWithShape="true">
              <a:gsLst>
                <a:gs pos="0">
                  <a:srgbClr val="65CED1">
                    <a:alpha val="100000"/>
                  </a:srgbClr>
                </a:gs>
                <a:gs pos="100000">
                  <a:srgbClr val="1F4E4F">
                    <a:alpha val="100000"/>
                  </a:srgbClr>
                </a:gs>
              </a:gsLst>
              <a:lin ang="2700000"/>
            </a:gradFill>
          </p:spPr>
        </p:sp>
        <p:sp>
          <p:nvSpPr>
            <p:cNvPr name="TextBox 33" id="33"/>
            <p:cNvSpPr txBox="true"/>
            <p:nvPr/>
          </p:nvSpPr>
          <p:spPr>
            <a:xfrm>
              <a:off x="0" y="-57150"/>
              <a:ext cx="465702" cy="168797"/>
            </a:xfrm>
            <a:prstGeom prst="rect">
              <a:avLst/>
            </a:prstGeom>
          </p:spPr>
          <p:txBody>
            <a:bodyPr anchor="ctr" rtlCol="false" tIns="50800" lIns="50800" bIns="50800" rIns="50800"/>
            <a:lstStyle/>
            <a:p>
              <a:pPr algn="ctr">
                <a:lnSpc>
                  <a:spcPts val="3447"/>
                </a:lnSpc>
              </a:pPr>
            </a:p>
          </p:txBody>
        </p:sp>
      </p:grpSp>
      <p:sp>
        <p:nvSpPr>
          <p:cNvPr name="TextBox 34" id="34"/>
          <p:cNvSpPr txBox="true"/>
          <p:nvPr/>
        </p:nvSpPr>
        <p:spPr>
          <a:xfrm rot="0">
            <a:off x="1761915" y="7922315"/>
            <a:ext cx="900317" cy="503109"/>
          </a:xfrm>
          <a:prstGeom prst="rect">
            <a:avLst/>
          </a:prstGeom>
        </p:spPr>
        <p:txBody>
          <a:bodyPr anchor="t" rtlCol="false" tIns="0" lIns="0" bIns="0" rIns="0">
            <a:spAutoFit/>
          </a:bodyPr>
          <a:lstStyle/>
          <a:p>
            <a:pPr algn="l">
              <a:lnSpc>
                <a:spcPts val="3918"/>
              </a:lnSpc>
            </a:pPr>
            <a:r>
              <a:rPr lang="en-US" sz="3467">
                <a:solidFill>
                  <a:srgbClr val="FFFFFF"/>
                </a:solidFill>
                <a:latin typeface="HK Grotesk"/>
                <a:ea typeface="HK Grotesk"/>
                <a:cs typeface="HK Grotesk"/>
                <a:sym typeface="HK Grotesk"/>
              </a:rPr>
              <a:t>04</a:t>
            </a:r>
          </a:p>
        </p:txBody>
      </p:sp>
      <p:sp>
        <p:nvSpPr>
          <p:cNvPr name="TextBox 35" id="35"/>
          <p:cNvSpPr txBox="true"/>
          <p:nvPr/>
        </p:nvSpPr>
        <p:spPr>
          <a:xfrm rot="0">
            <a:off x="2662232" y="7922315"/>
            <a:ext cx="2873427" cy="674593"/>
          </a:xfrm>
          <a:prstGeom prst="rect">
            <a:avLst/>
          </a:prstGeom>
        </p:spPr>
        <p:txBody>
          <a:bodyPr anchor="t" rtlCol="false" tIns="0" lIns="0" bIns="0" rIns="0">
            <a:spAutoFit/>
          </a:bodyPr>
          <a:lstStyle/>
          <a:p>
            <a:pPr algn="l">
              <a:lnSpc>
                <a:spcPts val="2685"/>
              </a:lnSpc>
            </a:pPr>
            <a:r>
              <a:rPr lang="en-US" sz="2376">
                <a:solidFill>
                  <a:srgbClr val="FFFFFF"/>
                </a:solidFill>
                <a:latin typeface="HK Grotesk"/>
                <a:ea typeface="HK Grotesk"/>
                <a:cs typeface="HK Grotesk"/>
                <a:sym typeface="HK Grotesk"/>
              </a:rPr>
              <a:t>Improved Incident Response</a:t>
            </a:r>
          </a:p>
        </p:txBody>
      </p:sp>
      <p:sp>
        <p:nvSpPr>
          <p:cNvPr name="TextBox 36" id="36"/>
          <p:cNvSpPr txBox="true"/>
          <p:nvPr/>
        </p:nvSpPr>
        <p:spPr>
          <a:xfrm rot="0">
            <a:off x="8597480" y="6258393"/>
            <a:ext cx="6900797" cy="770181"/>
          </a:xfrm>
          <a:prstGeom prst="rect">
            <a:avLst/>
          </a:prstGeom>
        </p:spPr>
        <p:txBody>
          <a:bodyPr anchor="t" rtlCol="false" tIns="0" lIns="0" bIns="0" rIns="0">
            <a:spAutoFit/>
          </a:bodyPr>
          <a:lstStyle/>
          <a:p>
            <a:pPr algn="l" marL="0" indent="0" lvl="0">
              <a:lnSpc>
                <a:spcPts val="2077"/>
              </a:lnSpc>
              <a:spcBef>
                <a:spcPct val="0"/>
              </a:spcBef>
            </a:pPr>
            <a:r>
              <a:rPr lang="en-US" sz="1598" spc="-7">
                <a:solidFill>
                  <a:srgbClr val="343434"/>
                </a:solidFill>
                <a:latin typeface="HK Grotesk"/>
                <a:ea typeface="HK Grotesk"/>
                <a:cs typeface="HK Grotesk"/>
                <a:sym typeface="HK Grotesk"/>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37" id="37"/>
          <p:cNvSpPr txBox="true"/>
          <p:nvPr/>
        </p:nvSpPr>
        <p:spPr>
          <a:xfrm rot="0">
            <a:off x="8597480" y="7849327"/>
            <a:ext cx="6900797" cy="770181"/>
          </a:xfrm>
          <a:prstGeom prst="rect">
            <a:avLst/>
          </a:prstGeom>
        </p:spPr>
        <p:txBody>
          <a:bodyPr anchor="t" rtlCol="false" tIns="0" lIns="0" bIns="0" rIns="0">
            <a:spAutoFit/>
          </a:bodyPr>
          <a:lstStyle/>
          <a:p>
            <a:pPr algn="l" marL="0" indent="0" lvl="0">
              <a:lnSpc>
                <a:spcPts val="2077"/>
              </a:lnSpc>
              <a:spcBef>
                <a:spcPct val="0"/>
              </a:spcBef>
            </a:pPr>
            <a:r>
              <a:rPr lang="en-US" sz="1598" spc="-7">
                <a:solidFill>
                  <a:srgbClr val="343434"/>
                </a:solidFill>
                <a:latin typeface="HK Grotesk"/>
                <a:ea typeface="HK Grotesk"/>
                <a:cs typeface="HK Grotesk"/>
                <a:sym typeface="HK Grotesk"/>
              </a:rP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3796" y="8141930"/>
            <a:ext cx="18606964" cy="2145070"/>
            <a:chOff x="0" y="0"/>
            <a:chExt cx="4900600" cy="564957"/>
          </a:xfrm>
        </p:grpSpPr>
        <p:sp>
          <p:nvSpPr>
            <p:cNvPr name="Freeform 3" id="3"/>
            <p:cNvSpPr/>
            <p:nvPr/>
          </p:nvSpPr>
          <p:spPr>
            <a:xfrm flipH="false" flipV="false" rot="0">
              <a:off x="0" y="0"/>
              <a:ext cx="4900600" cy="564957"/>
            </a:xfrm>
            <a:custGeom>
              <a:avLst/>
              <a:gdLst/>
              <a:ahLst/>
              <a:cxnLst/>
              <a:rect r="r" b="b" t="t" l="l"/>
              <a:pathLst>
                <a:path h="564957" w="4900600">
                  <a:moveTo>
                    <a:pt x="0" y="0"/>
                  </a:moveTo>
                  <a:lnTo>
                    <a:pt x="4900600" y="0"/>
                  </a:lnTo>
                  <a:lnTo>
                    <a:pt x="4900600" y="564957"/>
                  </a:lnTo>
                  <a:lnTo>
                    <a:pt x="0" y="564957"/>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4900600" cy="622107"/>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5" id="5"/>
          <p:cNvSpPr txBox="true"/>
          <p:nvPr/>
        </p:nvSpPr>
        <p:spPr>
          <a:xfrm rot="0">
            <a:off x="1028700" y="3994843"/>
            <a:ext cx="16127451" cy="3421594"/>
          </a:xfrm>
          <a:prstGeom prst="rect">
            <a:avLst/>
          </a:prstGeom>
        </p:spPr>
        <p:txBody>
          <a:bodyPr anchor="t" rtlCol="false" tIns="0" lIns="0" bIns="0" rIns="0">
            <a:spAutoFit/>
          </a:bodyPr>
          <a:lstStyle/>
          <a:p>
            <a:pPr algn="ctr">
              <a:lnSpc>
                <a:spcPts val="6642"/>
              </a:lnSpc>
            </a:pPr>
            <a:r>
              <a:rPr lang="en-US" sz="7298">
                <a:solidFill>
                  <a:srgbClr val="FFFFFF"/>
                </a:solidFill>
                <a:latin typeface="Archivo Black"/>
                <a:ea typeface="Archivo Black"/>
                <a:cs typeface="Archivo Black"/>
                <a:sym typeface="Archivo Black"/>
              </a:rPr>
              <a:t>USING PARALLELISM TO DETECT CYBER ATTACKS IN REAL TIME</a:t>
            </a:r>
          </a:p>
          <a:p>
            <a:pPr algn="ctr">
              <a:lnSpc>
                <a:spcPts val="6642"/>
              </a:lnSpc>
            </a:pPr>
          </a:p>
        </p:txBody>
      </p:sp>
      <p:sp>
        <p:nvSpPr>
          <p:cNvPr name="TextBox 6" id="6"/>
          <p:cNvSpPr txBox="true"/>
          <p:nvPr/>
        </p:nvSpPr>
        <p:spPr>
          <a:xfrm rot="0">
            <a:off x="1028700" y="4413943"/>
            <a:ext cx="16127451" cy="906994"/>
          </a:xfrm>
          <a:prstGeom prst="rect">
            <a:avLst/>
          </a:prstGeom>
        </p:spPr>
        <p:txBody>
          <a:bodyPr anchor="t" rtlCol="false" tIns="0" lIns="0" bIns="0" rIns="0">
            <a:spAutoFit/>
          </a:bodyPr>
          <a:lstStyle/>
          <a:p>
            <a:pPr algn="ctr">
              <a:lnSpc>
                <a:spcPts val="6642"/>
              </a:lnSpc>
            </a:pPr>
            <a:r>
              <a:rPr lang="en-US" sz="7298">
                <a:gradFill>
                  <a:gsLst>
                    <a:gs pos="0">
                      <a:srgbClr val="000000">
                        <a:alpha val="100000"/>
                      </a:srgbClr>
                    </a:gs>
                    <a:gs pos="50000">
                      <a:srgbClr val="082D2F">
                        <a:alpha val="100000"/>
                      </a:srgbClr>
                    </a:gs>
                    <a:gs pos="100000">
                      <a:srgbClr val="28949C">
                        <a:alpha val="100000"/>
                      </a:srgbClr>
                    </a:gs>
                  </a:gsLst>
                  <a:path path="circle">
                    <a:fillToRect l="50000" r="50000" t="50000" b="50000"/>
                  </a:path>
                </a:gradFill>
                <a:latin typeface="Archivo Black"/>
                <a:ea typeface="Archivo Black"/>
                <a:cs typeface="Archivo Black"/>
                <a:sym typeface="Archivo Black"/>
              </a:rPr>
              <a:t>REAL-WORLD APPLICATIONS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25" y="8629914"/>
            <a:ext cx="18277775" cy="1657086"/>
            <a:chOff x="0" y="0"/>
            <a:chExt cx="4813900" cy="436434"/>
          </a:xfrm>
        </p:grpSpPr>
        <p:sp>
          <p:nvSpPr>
            <p:cNvPr name="Freeform 3" id="3"/>
            <p:cNvSpPr/>
            <p:nvPr/>
          </p:nvSpPr>
          <p:spPr>
            <a:xfrm flipH="false" flipV="false" rot="0">
              <a:off x="0" y="0"/>
              <a:ext cx="4813900" cy="436434"/>
            </a:xfrm>
            <a:custGeom>
              <a:avLst/>
              <a:gdLst/>
              <a:ahLst/>
              <a:cxnLst/>
              <a:rect r="r" b="b" t="t" l="l"/>
              <a:pathLst>
                <a:path h="436434" w="4813900">
                  <a:moveTo>
                    <a:pt x="0" y="0"/>
                  </a:moveTo>
                  <a:lnTo>
                    <a:pt x="4813900" y="0"/>
                  </a:lnTo>
                  <a:lnTo>
                    <a:pt x="4813900" y="436434"/>
                  </a:lnTo>
                  <a:lnTo>
                    <a:pt x="0" y="436434"/>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4813900" cy="493584"/>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5" id="5"/>
          <p:cNvSpPr txBox="true"/>
          <p:nvPr/>
        </p:nvSpPr>
        <p:spPr>
          <a:xfrm rot="0">
            <a:off x="943797" y="2000155"/>
            <a:ext cx="10582134" cy="5981065"/>
          </a:xfrm>
          <a:prstGeom prst="rect">
            <a:avLst/>
          </a:prstGeom>
        </p:spPr>
        <p:txBody>
          <a:bodyPr anchor="t" rtlCol="false" tIns="0" lIns="0" bIns="0" rIns="0">
            <a:spAutoFit/>
          </a:bodyPr>
          <a:lstStyle/>
          <a:p>
            <a:pPr algn="just" marL="734059" indent="-367030" lvl="1">
              <a:lnSpc>
                <a:spcPts val="4759"/>
              </a:lnSpc>
              <a:buFont typeface="Arial"/>
              <a:buChar char="•"/>
            </a:pPr>
            <a:r>
              <a:rPr lang="en-US" sz="3399" spc="203">
                <a:solidFill>
                  <a:srgbClr val="000000"/>
                </a:solidFill>
                <a:latin typeface="HK Grotesk"/>
                <a:ea typeface="HK Grotesk"/>
                <a:cs typeface="HK Grotesk"/>
                <a:sym typeface="HK Grotesk"/>
              </a:rPr>
              <a:t>Financial institutions handle huge numbers of transactions every second.</a:t>
            </a:r>
          </a:p>
          <a:p>
            <a:pPr algn="just" marL="734059" indent="-367030" lvl="1">
              <a:lnSpc>
                <a:spcPts val="4759"/>
              </a:lnSpc>
              <a:buFont typeface="Arial"/>
              <a:buChar char="•"/>
            </a:pPr>
            <a:r>
              <a:rPr lang="en-US" sz="3399" spc="203">
                <a:solidFill>
                  <a:srgbClr val="000000"/>
                </a:solidFill>
                <a:latin typeface="HK Grotesk"/>
                <a:ea typeface="HK Grotesk"/>
                <a:cs typeface="HK Grotesk"/>
                <a:sym typeface="HK Grotesk"/>
              </a:rPr>
              <a:t>Parallel threat detection systems monitor this continuous flow and identify fraud, DDoS events, or unusual login patterns instantly.</a:t>
            </a:r>
          </a:p>
          <a:p>
            <a:pPr algn="just" marL="734059" indent="-367030" lvl="1">
              <a:lnSpc>
                <a:spcPts val="4759"/>
              </a:lnSpc>
              <a:buFont typeface="Arial"/>
              <a:buChar char="•"/>
            </a:pPr>
            <a:r>
              <a:rPr lang="en-US" b="true" sz="3399" spc="203">
                <a:solidFill>
                  <a:srgbClr val="000000"/>
                </a:solidFill>
                <a:latin typeface="HK Grotesk Bold"/>
                <a:ea typeface="HK Grotesk Bold"/>
                <a:cs typeface="HK Grotesk Bold"/>
                <a:sym typeface="HK Grotesk Bold"/>
              </a:rPr>
              <a:t>Case Study:</a:t>
            </a:r>
            <a:r>
              <a:rPr lang="en-US" sz="3399" spc="203">
                <a:solidFill>
                  <a:srgbClr val="000000"/>
                </a:solidFill>
                <a:latin typeface="HK Grotesk"/>
                <a:ea typeface="HK Grotesk"/>
                <a:cs typeface="HK Grotesk"/>
                <a:sym typeface="HK Grotesk"/>
              </a:rPr>
              <a:t> JP Morgan Chase uses large-scale distributed analytics to scan transaction streams in parallel, reducing detection time from minutes to milliseconds.</a:t>
            </a:r>
          </a:p>
          <a:p>
            <a:pPr algn="just">
              <a:lnSpc>
                <a:spcPts val="4759"/>
              </a:lnSpc>
              <a:spcBef>
                <a:spcPct val="0"/>
              </a:spcBef>
            </a:pPr>
          </a:p>
        </p:txBody>
      </p:sp>
      <p:sp>
        <p:nvSpPr>
          <p:cNvPr name="Freeform 6" id="6"/>
          <p:cNvSpPr/>
          <p:nvPr/>
        </p:nvSpPr>
        <p:spPr>
          <a:xfrm flipH="false" flipV="false" rot="0">
            <a:off x="12005942" y="2945395"/>
            <a:ext cx="5573337" cy="4396210"/>
          </a:xfrm>
          <a:custGeom>
            <a:avLst/>
            <a:gdLst/>
            <a:ahLst/>
            <a:cxnLst/>
            <a:rect r="r" b="b" t="t" l="l"/>
            <a:pathLst>
              <a:path h="4396210" w="5573337">
                <a:moveTo>
                  <a:pt x="0" y="0"/>
                </a:moveTo>
                <a:lnTo>
                  <a:pt x="5573337" y="0"/>
                </a:lnTo>
                <a:lnTo>
                  <a:pt x="5573337" y="4396210"/>
                </a:lnTo>
                <a:lnTo>
                  <a:pt x="0" y="4396210"/>
                </a:lnTo>
                <a:lnTo>
                  <a:pt x="0" y="0"/>
                </a:lnTo>
                <a:close/>
              </a:path>
            </a:pathLst>
          </a:custGeom>
          <a:blipFill>
            <a:blip r:embed="rId2"/>
            <a:stretch>
              <a:fillRect l="0" t="0" r="0" b="0"/>
            </a:stretch>
          </a:blipFill>
        </p:spPr>
      </p:sp>
      <p:sp>
        <p:nvSpPr>
          <p:cNvPr name="TextBox 7" id="7"/>
          <p:cNvSpPr txBox="true"/>
          <p:nvPr/>
        </p:nvSpPr>
        <p:spPr>
          <a:xfrm rot="0">
            <a:off x="717768" y="658314"/>
            <a:ext cx="11034192" cy="759822"/>
          </a:xfrm>
          <a:prstGeom prst="rect">
            <a:avLst/>
          </a:prstGeom>
        </p:spPr>
        <p:txBody>
          <a:bodyPr anchor="t" rtlCol="false" tIns="0" lIns="0" bIns="0" rIns="0">
            <a:spAutoFit/>
          </a:bodyPr>
          <a:lstStyle/>
          <a:p>
            <a:pPr algn="l" marL="1103718" indent="-551859" lvl="1">
              <a:lnSpc>
                <a:spcPts val="5776"/>
              </a:lnSpc>
              <a:buAutoNum type="arabicPeriod" startAt="1"/>
            </a:pPr>
            <a:r>
              <a:rPr lang="en-US" sz="5112">
                <a:solidFill>
                  <a:srgbClr val="000000"/>
                </a:solidFill>
                <a:latin typeface="Archivo Black"/>
                <a:ea typeface="Archivo Black"/>
                <a:cs typeface="Archivo Black"/>
                <a:sym typeface="Archivo Black"/>
              </a:rPr>
              <a:t>Banking &amp; Financial Sector</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225" y="8629914"/>
            <a:ext cx="18277775" cy="1657086"/>
            <a:chOff x="0" y="0"/>
            <a:chExt cx="4813900" cy="436434"/>
          </a:xfrm>
        </p:grpSpPr>
        <p:sp>
          <p:nvSpPr>
            <p:cNvPr name="Freeform 3" id="3"/>
            <p:cNvSpPr/>
            <p:nvPr/>
          </p:nvSpPr>
          <p:spPr>
            <a:xfrm flipH="false" flipV="false" rot="0">
              <a:off x="0" y="0"/>
              <a:ext cx="4813900" cy="436434"/>
            </a:xfrm>
            <a:custGeom>
              <a:avLst/>
              <a:gdLst/>
              <a:ahLst/>
              <a:cxnLst/>
              <a:rect r="r" b="b" t="t" l="l"/>
              <a:pathLst>
                <a:path h="436434" w="4813900">
                  <a:moveTo>
                    <a:pt x="0" y="0"/>
                  </a:moveTo>
                  <a:lnTo>
                    <a:pt x="4813900" y="0"/>
                  </a:lnTo>
                  <a:lnTo>
                    <a:pt x="4813900" y="436434"/>
                  </a:lnTo>
                  <a:lnTo>
                    <a:pt x="0" y="436434"/>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4813900" cy="493584"/>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5" id="5"/>
          <p:cNvSpPr txBox="true"/>
          <p:nvPr/>
        </p:nvSpPr>
        <p:spPr>
          <a:xfrm rot="0">
            <a:off x="491739" y="1497035"/>
            <a:ext cx="16102590" cy="3457064"/>
          </a:xfrm>
          <a:prstGeom prst="rect">
            <a:avLst/>
          </a:prstGeom>
        </p:spPr>
        <p:txBody>
          <a:bodyPr anchor="t" rtlCol="false" tIns="0" lIns="0" bIns="0" rIns="0">
            <a:spAutoFit/>
          </a:bodyPr>
          <a:lstStyle/>
          <a:p>
            <a:pPr algn="just" marL="749198" indent="-374599" lvl="1">
              <a:lnSpc>
                <a:spcPts val="4858"/>
              </a:lnSpc>
              <a:buFont typeface="Arial"/>
              <a:buChar char="•"/>
            </a:pPr>
            <a:r>
              <a:rPr lang="en-US" sz="3470" spc="208">
                <a:solidFill>
                  <a:srgbClr val="000000"/>
                </a:solidFill>
                <a:latin typeface="HK Grotesk"/>
                <a:ea typeface="HK Grotesk"/>
                <a:cs typeface="HK Grotesk"/>
                <a:sym typeface="HK Grotesk"/>
              </a:rPr>
              <a:t>Cloud providers such as AWS GuardDuty, Azure Sentinel, and Goog</a:t>
            </a:r>
            <a:r>
              <a:rPr lang="en-US" sz="3470" spc="208">
                <a:solidFill>
                  <a:srgbClr val="000000"/>
                </a:solidFill>
                <a:latin typeface="HK Grotesk"/>
                <a:ea typeface="HK Grotesk"/>
                <a:cs typeface="HK Grotesk"/>
                <a:sym typeface="HK Grotesk"/>
              </a:rPr>
              <a:t>l</a:t>
            </a:r>
            <a:r>
              <a:rPr lang="en-US" sz="3470" spc="208">
                <a:solidFill>
                  <a:srgbClr val="000000"/>
                </a:solidFill>
                <a:latin typeface="HK Grotesk"/>
                <a:ea typeface="HK Grotesk"/>
                <a:cs typeface="HK Grotesk"/>
                <a:sym typeface="HK Grotesk"/>
              </a:rPr>
              <a:t>e Cloud IDS rely on parallel log scanning and distributed analytics.</a:t>
            </a:r>
          </a:p>
          <a:p>
            <a:pPr algn="just" marL="734059" indent="-367030" lvl="1">
              <a:lnSpc>
                <a:spcPts val="4759"/>
              </a:lnSpc>
              <a:buFont typeface="Arial"/>
              <a:buChar char="•"/>
            </a:pPr>
            <a:r>
              <a:rPr lang="en-US" sz="3399" spc="203">
                <a:solidFill>
                  <a:srgbClr val="000000"/>
                </a:solidFill>
                <a:latin typeface="HK Grotesk"/>
                <a:ea typeface="HK Grotesk"/>
                <a:cs typeface="HK Grotesk"/>
                <a:sym typeface="HK Grotesk"/>
              </a:rPr>
              <a:t>These s</a:t>
            </a:r>
            <a:r>
              <a:rPr lang="en-US" sz="3399" spc="203">
                <a:solidFill>
                  <a:srgbClr val="000000"/>
                </a:solidFill>
                <a:latin typeface="HK Grotesk"/>
                <a:ea typeface="HK Grotesk"/>
                <a:cs typeface="HK Grotesk"/>
                <a:sym typeface="HK Grotesk"/>
              </a:rPr>
              <a:t>ystems process massive volumes of security events at once, enabling fast detection of misconfigurations, brute-force attempts, and malware.</a:t>
            </a:r>
          </a:p>
          <a:p>
            <a:pPr algn="just">
              <a:lnSpc>
                <a:spcPts val="3598"/>
              </a:lnSpc>
              <a:spcBef>
                <a:spcPct val="0"/>
              </a:spcBef>
            </a:pPr>
          </a:p>
        </p:txBody>
      </p:sp>
      <p:sp>
        <p:nvSpPr>
          <p:cNvPr name="TextBox 6" id="6"/>
          <p:cNvSpPr txBox="true"/>
          <p:nvPr/>
        </p:nvSpPr>
        <p:spPr>
          <a:xfrm rot="0">
            <a:off x="717768" y="667839"/>
            <a:ext cx="11034192" cy="699897"/>
          </a:xfrm>
          <a:prstGeom prst="rect">
            <a:avLst/>
          </a:prstGeom>
        </p:spPr>
        <p:txBody>
          <a:bodyPr anchor="t" rtlCol="false" tIns="0" lIns="0" bIns="0" rIns="0">
            <a:spAutoFit/>
          </a:bodyPr>
          <a:lstStyle/>
          <a:p>
            <a:pPr algn="l">
              <a:lnSpc>
                <a:spcPts val="5423"/>
              </a:lnSpc>
            </a:pPr>
            <a:r>
              <a:rPr lang="en-US" sz="4800">
                <a:solidFill>
                  <a:srgbClr val="000000"/>
                </a:solidFill>
                <a:latin typeface="Archivo Black"/>
                <a:ea typeface="Archivo Black"/>
                <a:cs typeface="Archivo Black"/>
                <a:sym typeface="Archivo Black"/>
              </a:rPr>
              <a:t>2. Cloud Security Platforms</a:t>
            </a:r>
          </a:p>
        </p:txBody>
      </p:sp>
      <p:sp>
        <p:nvSpPr>
          <p:cNvPr name="TextBox 7" id="7"/>
          <p:cNvSpPr txBox="true"/>
          <p:nvPr/>
        </p:nvSpPr>
        <p:spPr>
          <a:xfrm rot="0">
            <a:off x="717768" y="4601674"/>
            <a:ext cx="13723936" cy="699897"/>
          </a:xfrm>
          <a:prstGeom prst="rect">
            <a:avLst/>
          </a:prstGeom>
        </p:spPr>
        <p:txBody>
          <a:bodyPr anchor="t" rtlCol="false" tIns="0" lIns="0" bIns="0" rIns="0">
            <a:spAutoFit/>
          </a:bodyPr>
          <a:lstStyle/>
          <a:p>
            <a:pPr algn="l">
              <a:lnSpc>
                <a:spcPts val="5423"/>
              </a:lnSpc>
            </a:pPr>
            <a:r>
              <a:rPr lang="en-US" sz="4800">
                <a:solidFill>
                  <a:srgbClr val="000000"/>
                </a:solidFill>
                <a:latin typeface="Archivo Black"/>
                <a:ea typeface="Archivo Black"/>
                <a:cs typeface="Archivo Black"/>
                <a:sym typeface="Archivo Black"/>
              </a:rPr>
              <a:t>3. Enterprise &amp; Data Center Security</a:t>
            </a:r>
          </a:p>
        </p:txBody>
      </p:sp>
      <p:sp>
        <p:nvSpPr>
          <p:cNvPr name="TextBox 8" id="8"/>
          <p:cNvSpPr txBox="true"/>
          <p:nvPr/>
        </p:nvSpPr>
        <p:spPr>
          <a:xfrm rot="0">
            <a:off x="532745" y="5494386"/>
            <a:ext cx="16061584" cy="2856989"/>
          </a:xfrm>
          <a:prstGeom prst="rect">
            <a:avLst/>
          </a:prstGeom>
        </p:spPr>
        <p:txBody>
          <a:bodyPr anchor="t" rtlCol="false" tIns="0" lIns="0" bIns="0" rIns="0">
            <a:spAutoFit/>
          </a:bodyPr>
          <a:lstStyle/>
          <a:p>
            <a:pPr algn="just" marL="749198" indent="-374599" lvl="1">
              <a:lnSpc>
                <a:spcPts val="4858"/>
              </a:lnSpc>
              <a:buFont typeface="Arial"/>
              <a:buChar char="•"/>
            </a:pPr>
            <a:r>
              <a:rPr lang="en-US" sz="3470" spc="208">
                <a:solidFill>
                  <a:srgbClr val="000000"/>
                </a:solidFill>
                <a:latin typeface="HK Grotesk"/>
                <a:ea typeface="HK Grotesk"/>
                <a:cs typeface="HK Grotesk"/>
                <a:sym typeface="HK Grotesk"/>
              </a:rPr>
              <a:t>Companies like Cisco, Palo Alto Networks, and</a:t>
            </a:r>
            <a:r>
              <a:rPr lang="en-US" sz="3470" spc="208">
                <a:solidFill>
                  <a:srgbClr val="000000"/>
                </a:solidFill>
                <a:latin typeface="HK Grotesk"/>
                <a:ea typeface="HK Grotesk"/>
                <a:cs typeface="HK Grotesk"/>
                <a:sym typeface="HK Grotesk"/>
              </a:rPr>
              <a:t> CrowdStrike integrate GPU-accelerated and multi-core processing into their security tools.</a:t>
            </a:r>
          </a:p>
          <a:p>
            <a:pPr algn="just" marL="734059" indent="-367030" lvl="1">
              <a:lnSpc>
                <a:spcPts val="4759"/>
              </a:lnSpc>
              <a:buFont typeface="Arial"/>
              <a:buChar char="•"/>
            </a:pPr>
            <a:r>
              <a:rPr lang="en-US" sz="3399" spc="203">
                <a:solidFill>
                  <a:srgbClr val="000000"/>
                </a:solidFill>
                <a:latin typeface="HK Grotesk"/>
                <a:ea typeface="HK Grotesk"/>
                <a:cs typeface="HK Grotesk"/>
                <a:sym typeface="HK Grotesk"/>
              </a:rPr>
              <a:t>This allows real-time inspection of packets, user activity, and endpoint behavior across large corporate networks.</a:t>
            </a:r>
          </a:p>
          <a:p>
            <a:pPr algn="just">
              <a:lnSpc>
                <a:spcPts val="3598"/>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25" y="9059369"/>
            <a:ext cx="18277775" cy="1227631"/>
            <a:chOff x="0" y="0"/>
            <a:chExt cx="4813900" cy="323327"/>
          </a:xfrm>
        </p:grpSpPr>
        <p:sp>
          <p:nvSpPr>
            <p:cNvPr name="Freeform 3" id="3"/>
            <p:cNvSpPr/>
            <p:nvPr/>
          </p:nvSpPr>
          <p:spPr>
            <a:xfrm flipH="false" flipV="false" rot="0">
              <a:off x="0" y="0"/>
              <a:ext cx="4813900" cy="323327"/>
            </a:xfrm>
            <a:custGeom>
              <a:avLst/>
              <a:gdLst/>
              <a:ahLst/>
              <a:cxnLst/>
              <a:rect r="r" b="b" t="t" l="l"/>
              <a:pathLst>
                <a:path h="323327" w="4813900">
                  <a:moveTo>
                    <a:pt x="0" y="0"/>
                  </a:moveTo>
                  <a:lnTo>
                    <a:pt x="4813900" y="0"/>
                  </a:lnTo>
                  <a:lnTo>
                    <a:pt x="4813900" y="323327"/>
                  </a:lnTo>
                  <a:lnTo>
                    <a:pt x="0" y="323327"/>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4813900" cy="380477"/>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Freeform 5" id="5"/>
          <p:cNvSpPr/>
          <p:nvPr/>
        </p:nvSpPr>
        <p:spPr>
          <a:xfrm flipH="false" flipV="false" rot="0">
            <a:off x="5588228" y="4894228"/>
            <a:ext cx="7121769" cy="4020024"/>
          </a:xfrm>
          <a:custGeom>
            <a:avLst/>
            <a:gdLst/>
            <a:ahLst/>
            <a:cxnLst/>
            <a:rect r="r" b="b" t="t" l="l"/>
            <a:pathLst>
              <a:path h="4020024" w="7121769">
                <a:moveTo>
                  <a:pt x="0" y="0"/>
                </a:moveTo>
                <a:lnTo>
                  <a:pt x="7121769" y="0"/>
                </a:lnTo>
                <a:lnTo>
                  <a:pt x="7121769" y="4020025"/>
                </a:lnTo>
                <a:lnTo>
                  <a:pt x="0" y="4020025"/>
                </a:lnTo>
                <a:lnTo>
                  <a:pt x="0" y="0"/>
                </a:lnTo>
                <a:close/>
              </a:path>
            </a:pathLst>
          </a:custGeom>
          <a:blipFill>
            <a:blip r:embed="rId2"/>
            <a:stretch>
              <a:fillRect l="0" t="0" r="0" b="0"/>
            </a:stretch>
          </a:blipFill>
        </p:spPr>
      </p:sp>
      <p:sp>
        <p:nvSpPr>
          <p:cNvPr name="TextBox 6" id="6"/>
          <p:cNvSpPr txBox="true"/>
          <p:nvPr/>
        </p:nvSpPr>
        <p:spPr>
          <a:xfrm rot="0">
            <a:off x="717768" y="1732563"/>
            <a:ext cx="16102590" cy="2980690"/>
          </a:xfrm>
          <a:prstGeom prst="rect">
            <a:avLst/>
          </a:prstGeom>
        </p:spPr>
        <p:txBody>
          <a:bodyPr anchor="t" rtlCol="false" tIns="0" lIns="0" bIns="0" rIns="0">
            <a:spAutoFit/>
          </a:bodyPr>
          <a:lstStyle/>
          <a:p>
            <a:pPr algn="just" marL="734058" indent="-367029" lvl="1">
              <a:lnSpc>
                <a:spcPts val="4759"/>
              </a:lnSpc>
              <a:buFont typeface="Arial"/>
              <a:buChar char="•"/>
            </a:pPr>
            <a:r>
              <a:rPr lang="en-US" sz="3399" spc="203">
                <a:solidFill>
                  <a:srgbClr val="000000"/>
                </a:solidFill>
                <a:latin typeface="HK Grotesk"/>
                <a:ea typeface="HK Grotesk"/>
                <a:cs typeface="HK Grotesk"/>
                <a:sym typeface="HK Grotesk"/>
              </a:rPr>
              <a:t>Defense agencies monitor enormous amounts of communication, sensor data, and network traffic.</a:t>
            </a:r>
          </a:p>
          <a:p>
            <a:pPr algn="just" marL="734058" indent="-367029" lvl="1">
              <a:lnSpc>
                <a:spcPts val="4759"/>
              </a:lnSpc>
              <a:buFont typeface="Arial"/>
              <a:buChar char="•"/>
            </a:pPr>
            <a:r>
              <a:rPr lang="en-US" sz="3399" spc="203">
                <a:solidFill>
                  <a:srgbClr val="000000"/>
                </a:solidFill>
                <a:latin typeface="HK Grotesk"/>
                <a:ea typeface="HK Grotesk"/>
                <a:cs typeface="HK Grotesk"/>
                <a:sym typeface="HK Grotesk"/>
              </a:rPr>
              <a:t>Using parallel processing clusters helps detect cyber espionage, APT groups, and targeted attacks that spread very quietly.</a:t>
            </a:r>
          </a:p>
          <a:p>
            <a:pPr algn="just">
              <a:lnSpc>
                <a:spcPts val="4759"/>
              </a:lnSpc>
              <a:spcBef>
                <a:spcPct val="0"/>
              </a:spcBef>
            </a:pPr>
          </a:p>
        </p:txBody>
      </p:sp>
      <p:sp>
        <p:nvSpPr>
          <p:cNvPr name="TextBox 7" id="7"/>
          <p:cNvSpPr txBox="true"/>
          <p:nvPr/>
        </p:nvSpPr>
        <p:spPr>
          <a:xfrm rot="0">
            <a:off x="717768" y="916471"/>
            <a:ext cx="13000643" cy="699897"/>
          </a:xfrm>
          <a:prstGeom prst="rect">
            <a:avLst/>
          </a:prstGeom>
        </p:spPr>
        <p:txBody>
          <a:bodyPr anchor="t" rtlCol="false" tIns="0" lIns="0" bIns="0" rIns="0">
            <a:spAutoFit/>
          </a:bodyPr>
          <a:lstStyle/>
          <a:p>
            <a:pPr algn="l">
              <a:lnSpc>
                <a:spcPts val="5423"/>
              </a:lnSpc>
            </a:pPr>
            <a:r>
              <a:rPr lang="en-US" sz="4800">
                <a:solidFill>
                  <a:srgbClr val="000000"/>
                </a:solidFill>
                <a:latin typeface="Archivo Black"/>
                <a:ea typeface="Archivo Black"/>
                <a:cs typeface="Archivo Black"/>
                <a:sym typeface="Archivo Black"/>
              </a:rPr>
              <a:t>4. Government &amp; Defense Systems</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5847804" cy="10287000"/>
            <a:chOff x="0" y="0"/>
            <a:chExt cx="1540162" cy="2709333"/>
          </a:xfrm>
        </p:grpSpPr>
        <p:sp>
          <p:nvSpPr>
            <p:cNvPr name="Freeform 3" id="3"/>
            <p:cNvSpPr/>
            <p:nvPr/>
          </p:nvSpPr>
          <p:spPr>
            <a:xfrm flipH="false" flipV="false" rot="0">
              <a:off x="0" y="0"/>
              <a:ext cx="1540162" cy="2709333"/>
            </a:xfrm>
            <a:custGeom>
              <a:avLst/>
              <a:gdLst/>
              <a:ahLst/>
              <a:cxnLst/>
              <a:rect r="r" b="b" t="t" l="l"/>
              <a:pathLst>
                <a:path h="2709333" w="1540162">
                  <a:moveTo>
                    <a:pt x="0" y="0"/>
                  </a:moveTo>
                  <a:lnTo>
                    <a:pt x="1540162" y="0"/>
                  </a:lnTo>
                  <a:lnTo>
                    <a:pt x="1540162" y="2709333"/>
                  </a:lnTo>
                  <a:lnTo>
                    <a:pt x="0" y="2709333"/>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1540162" cy="2766483"/>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5" id="5"/>
          <p:cNvSpPr txBox="true"/>
          <p:nvPr/>
        </p:nvSpPr>
        <p:spPr>
          <a:xfrm rot="0">
            <a:off x="6051152" y="2283761"/>
            <a:ext cx="11004722" cy="6318255"/>
          </a:xfrm>
          <a:prstGeom prst="rect">
            <a:avLst/>
          </a:prstGeom>
        </p:spPr>
        <p:txBody>
          <a:bodyPr anchor="t" rtlCol="false" tIns="0" lIns="0" bIns="0" rIns="0">
            <a:spAutoFit/>
          </a:bodyPr>
          <a:lstStyle/>
          <a:p>
            <a:pPr algn="just" marL="863561" indent="-431780" lvl="1">
              <a:lnSpc>
                <a:spcPts val="5599"/>
              </a:lnSpc>
              <a:buFont typeface="Arial"/>
              <a:buChar char="•"/>
            </a:pPr>
            <a:r>
              <a:rPr lang="en-US" sz="3999" spc="239">
                <a:solidFill>
                  <a:srgbClr val="000000"/>
                </a:solidFill>
                <a:latin typeface="HK Grotesk"/>
                <a:ea typeface="HK Grotesk"/>
                <a:cs typeface="HK Grotesk"/>
                <a:sym typeface="HK Grotesk"/>
              </a:rPr>
              <a:t>Netflix receives global traffic 24/7 across millions of users.</a:t>
            </a:r>
          </a:p>
          <a:p>
            <a:pPr algn="just" marL="863561" indent="-431780" lvl="1">
              <a:lnSpc>
                <a:spcPts val="5599"/>
              </a:lnSpc>
              <a:buFont typeface="Arial"/>
              <a:buChar char="•"/>
            </a:pPr>
            <a:r>
              <a:rPr lang="en-US" sz="3999" spc="239">
                <a:solidFill>
                  <a:srgbClr val="000000"/>
                </a:solidFill>
                <a:latin typeface="HK Grotesk"/>
                <a:ea typeface="HK Grotesk"/>
                <a:cs typeface="HK Grotesk"/>
                <a:sym typeface="HK Grotesk"/>
              </a:rPr>
              <a:t>Their security pipeline uses parallel processing frameworks like Kafka and Spark to analyze logs in real time.</a:t>
            </a:r>
          </a:p>
          <a:p>
            <a:pPr algn="just" marL="863561" indent="-431780" lvl="1">
              <a:lnSpc>
                <a:spcPts val="5599"/>
              </a:lnSpc>
              <a:buFont typeface="Arial"/>
              <a:buChar char="•"/>
            </a:pPr>
            <a:r>
              <a:rPr lang="en-US" sz="3999" spc="239">
                <a:solidFill>
                  <a:srgbClr val="000000"/>
                </a:solidFill>
                <a:latin typeface="HK Grotesk"/>
                <a:ea typeface="HK Grotesk"/>
                <a:cs typeface="HK Grotesk"/>
                <a:sym typeface="HK Grotesk"/>
              </a:rPr>
              <a:t>This enables immediate detection of bot attacks, account sharing abuse, and unusual login spike</a:t>
            </a:r>
          </a:p>
          <a:p>
            <a:pPr algn="just">
              <a:lnSpc>
                <a:spcPts val="5599"/>
              </a:lnSpc>
              <a:spcBef>
                <a:spcPct val="0"/>
              </a:spcBef>
            </a:pPr>
          </a:p>
        </p:txBody>
      </p:sp>
      <p:sp>
        <p:nvSpPr>
          <p:cNvPr name="TextBox 6" id="6"/>
          <p:cNvSpPr txBox="true"/>
          <p:nvPr/>
        </p:nvSpPr>
        <p:spPr>
          <a:xfrm rot="0">
            <a:off x="6368491" y="1057275"/>
            <a:ext cx="8751300" cy="790956"/>
          </a:xfrm>
          <a:prstGeom prst="rect">
            <a:avLst/>
          </a:prstGeom>
        </p:spPr>
        <p:txBody>
          <a:bodyPr anchor="t" rtlCol="false" tIns="0" lIns="0" bIns="0" rIns="0">
            <a:spAutoFit/>
          </a:bodyPr>
          <a:lstStyle/>
          <a:p>
            <a:pPr algn="l">
              <a:lnSpc>
                <a:spcPts val="6101"/>
              </a:lnSpc>
            </a:pPr>
            <a:r>
              <a:rPr lang="en-US" sz="5399">
                <a:solidFill>
                  <a:srgbClr val="000000"/>
                </a:solidFill>
                <a:latin typeface="Archivo Black"/>
                <a:ea typeface="Archivo Black"/>
                <a:cs typeface="Archivo Black"/>
                <a:sym typeface="Archivo Black"/>
              </a:rPr>
              <a:t>Case Study: Netflix</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3796" y="8141930"/>
            <a:ext cx="18606964" cy="2145070"/>
            <a:chOff x="0" y="0"/>
            <a:chExt cx="4900600" cy="564957"/>
          </a:xfrm>
        </p:grpSpPr>
        <p:sp>
          <p:nvSpPr>
            <p:cNvPr name="Freeform 3" id="3"/>
            <p:cNvSpPr/>
            <p:nvPr/>
          </p:nvSpPr>
          <p:spPr>
            <a:xfrm flipH="false" flipV="false" rot="0">
              <a:off x="0" y="0"/>
              <a:ext cx="4900600" cy="564957"/>
            </a:xfrm>
            <a:custGeom>
              <a:avLst/>
              <a:gdLst/>
              <a:ahLst/>
              <a:cxnLst/>
              <a:rect r="r" b="b" t="t" l="l"/>
              <a:pathLst>
                <a:path h="564957" w="4900600">
                  <a:moveTo>
                    <a:pt x="0" y="0"/>
                  </a:moveTo>
                  <a:lnTo>
                    <a:pt x="4900600" y="0"/>
                  </a:lnTo>
                  <a:lnTo>
                    <a:pt x="4900600" y="564957"/>
                  </a:lnTo>
                  <a:lnTo>
                    <a:pt x="0" y="564957"/>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4900600" cy="622107"/>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5" id="5"/>
          <p:cNvSpPr txBox="true"/>
          <p:nvPr/>
        </p:nvSpPr>
        <p:spPr>
          <a:xfrm rot="0">
            <a:off x="1028700" y="3994843"/>
            <a:ext cx="16127451" cy="3421594"/>
          </a:xfrm>
          <a:prstGeom prst="rect">
            <a:avLst/>
          </a:prstGeom>
        </p:spPr>
        <p:txBody>
          <a:bodyPr anchor="t" rtlCol="false" tIns="0" lIns="0" bIns="0" rIns="0">
            <a:spAutoFit/>
          </a:bodyPr>
          <a:lstStyle/>
          <a:p>
            <a:pPr algn="ctr">
              <a:lnSpc>
                <a:spcPts val="6642"/>
              </a:lnSpc>
            </a:pPr>
            <a:r>
              <a:rPr lang="en-US" sz="7298">
                <a:solidFill>
                  <a:srgbClr val="FFFFFF"/>
                </a:solidFill>
                <a:latin typeface="Archivo Black"/>
                <a:ea typeface="Archivo Black"/>
                <a:cs typeface="Archivo Black"/>
                <a:sym typeface="Archivo Black"/>
              </a:rPr>
              <a:t>USING PARALLELISM TO DETECT CYBER ATTACKS IN REAL TIME</a:t>
            </a:r>
          </a:p>
          <a:p>
            <a:pPr algn="ctr">
              <a:lnSpc>
                <a:spcPts val="6642"/>
              </a:lnSpc>
            </a:pPr>
          </a:p>
        </p:txBody>
      </p:sp>
      <p:sp>
        <p:nvSpPr>
          <p:cNvPr name="TextBox 6" id="6"/>
          <p:cNvSpPr txBox="true"/>
          <p:nvPr/>
        </p:nvSpPr>
        <p:spPr>
          <a:xfrm rot="0">
            <a:off x="1028700" y="4413943"/>
            <a:ext cx="16127451" cy="906994"/>
          </a:xfrm>
          <a:prstGeom prst="rect">
            <a:avLst/>
          </a:prstGeom>
        </p:spPr>
        <p:txBody>
          <a:bodyPr anchor="t" rtlCol="false" tIns="0" lIns="0" bIns="0" rIns="0">
            <a:spAutoFit/>
          </a:bodyPr>
          <a:lstStyle/>
          <a:p>
            <a:pPr algn="ctr">
              <a:lnSpc>
                <a:spcPts val="6642"/>
              </a:lnSpc>
            </a:pPr>
            <a:r>
              <a:rPr lang="en-US" sz="7298">
                <a:gradFill>
                  <a:gsLst>
                    <a:gs pos="0">
                      <a:srgbClr val="000000">
                        <a:alpha val="100000"/>
                      </a:srgbClr>
                    </a:gs>
                    <a:gs pos="50000">
                      <a:srgbClr val="082D2F">
                        <a:alpha val="100000"/>
                      </a:srgbClr>
                    </a:gs>
                    <a:gs pos="100000">
                      <a:srgbClr val="28949C">
                        <a:alpha val="100000"/>
                      </a:srgbClr>
                    </a:gs>
                  </a:gsLst>
                  <a:path path="circle">
                    <a:fillToRect l="50000" r="50000" t="50000" b="50000"/>
                  </a:path>
                </a:gradFill>
                <a:latin typeface="Archivo Black"/>
                <a:ea typeface="Archivo Black"/>
                <a:cs typeface="Archivo Black"/>
                <a:sym typeface="Archivo Black"/>
              </a:rPr>
              <a:t>ADVANTAGES &amp; LIMITATIONS</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35857"/>
            <a:ext cx="7147170" cy="10287000"/>
            <a:chOff x="0" y="0"/>
            <a:chExt cx="1882382" cy="2709333"/>
          </a:xfrm>
        </p:grpSpPr>
        <p:sp>
          <p:nvSpPr>
            <p:cNvPr name="Freeform 3" id="3"/>
            <p:cNvSpPr/>
            <p:nvPr/>
          </p:nvSpPr>
          <p:spPr>
            <a:xfrm flipH="false" flipV="false" rot="0">
              <a:off x="0" y="0"/>
              <a:ext cx="1882382" cy="2709333"/>
            </a:xfrm>
            <a:custGeom>
              <a:avLst/>
              <a:gdLst/>
              <a:ahLst/>
              <a:cxnLst/>
              <a:rect r="r" b="b" t="t" l="l"/>
              <a:pathLst>
                <a:path h="2709333" w="1882382">
                  <a:moveTo>
                    <a:pt x="0" y="0"/>
                  </a:moveTo>
                  <a:lnTo>
                    <a:pt x="1882382" y="0"/>
                  </a:lnTo>
                  <a:lnTo>
                    <a:pt x="1882382" y="2709333"/>
                  </a:lnTo>
                  <a:lnTo>
                    <a:pt x="0" y="2709333"/>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1882382" cy="2766483"/>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AutoShape 5" id="5"/>
          <p:cNvSpPr/>
          <p:nvPr/>
        </p:nvSpPr>
        <p:spPr>
          <a:xfrm>
            <a:off x="1481685" y="3542028"/>
            <a:ext cx="6642274" cy="0"/>
          </a:xfrm>
          <a:prstGeom prst="line">
            <a:avLst/>
          </a:prstGeom>
          <a:ln cap="flat" w="28575">
            <a:solidFill>
              <a:srgbClr val="FFFFFF"/>
            </a:solidFill>
            <a:prstDash val="solid"/>
            <a:headEnd type="none" len="sm" w="sm"/>
            <a:tailEnd type="none" len="sm" w="sm"/>
          </a:ln>
        </p:spPr>
      </p:sp>
      <p:sp>
        <p:nvSpPr>
          <p:cNvPr name="TextBox 6" id="6"/>
          <p:cNvSpPr txBox="true"/>
          <p:nvPr/>
        </p:nvSpPr>
        <p:spPr>
          <a:xfrm rot="0">
            <a:off x="1542656" y="2509536"/>
            <a:ext cx="4478233" cy="436245"/>
          </a:xfrm>
          <a:prstGeom prst="rect">
            <a:avLst/>
          </a:prstGeom>
        </p:spPr>
        <p:txBody>
          <a:bodyPr anchor="t" rtlCol="false" tIns="0" lIns="0" bIns="0" rIns="0">
            <a:spAutoFit/>
          </a:bodyPr>
          <a:lstStyle/>
          <a:p>
            <a:pPr algn="l">
              <a:lnSpc>
                <a:spcPts val="3390"/>
              </a:lnSpc>
            </a:pPr>
            <a:r>
              <a:rPr lang="en-US" sz="3000" b="true">
                <a:solidFill>
                  <a:srgbClr val="FFFFFF"/>
                </a:solidFill>
                <a:latin typeface="HK Grotesk Bold"/>
                <a:ea typeface="HK Grotesk Bold"/>
                <a:cs typeface="HK Grotesk Bold"/>
                <a:sym typeface="HK Grotesk Bold"/>
              </a:rPr>
              <a:t>Instant threat visibility:</a:t>
            </a:r>
          </a:p>
        </p:txBody>
      </p:sp>
      <p:sp>
        <p:nvSpPr>
          <p:cNvPr name="TextBox 7" id="7"/>
          <p:cNvSpPr txBox="true"/>
          <p:nvPr/>
        </p:nvSpPr>
        <p:spPr>
          <a:xfrm rot="0">
            <a:off x="7403940" y="2149174"/>
            <a:ext cx="11285757" cy="1099820"/>
          </a:xfrm>
          <a:prstGeom prst="rect">
            <a:avLst/>
          </a:prstGeom>
        </p:spPr>
        <p:txBody>
          <a:bodyPr anchor="t" rtlCol="false" tIns="0" lIns="0" bIns="0" rIns="0">
            <a:spAutoFit/>
          </a:bodyPr>
          <a:lstStyle/>
          <a:p>
            <a:pPr algn="l" marL="0" indent="0" lvl="0">
              <a:lnSpc>
                <a:spcPts val="4419"/>
              </a:lnSpc>
              <a:spcBef>
                <a:spcPct val="0"/>
              </a:spcBef>
            </a:pPr>
            <a:r>
              <a:rPr lang="en-US" sz="3399" spc="-16">
                <a:solidFill>
                  <a:srgbClr val="343434"/>
                </a:solidFill>
                <a:latin typeface="HK Grotesk"/>
                <a:ea typeface="HK Grotesk"/>
                <a:cs typeface="HK Grotesk"/>
                <a:sym typeface="HK Grotesk"/>
              </a:rPr>
              <a:t>Parallelism reduces analysis time from minutes to milliseconds.</a:t>
            </a:r>
          </a:p>
        </p:txBody>
      </p:sp>
      <p:sp>
        <p:nvSpPr>
          <p:cNvPr name="TextBox 8" id="8"/>
          <p:cNvSpPr txBox="true"/>
          <p:nvPr/>
        </p:nvSpPr>
        <p:spPr>
          <a:xfrm rot="0">
            <a:off x="1481685" y="665106"/>
            <a:ext cx="6546998" cy="770128"/>
          </a:xfrm>
          <a:prstGeom prst="rect">
            <a:avLst/>
          </a:prstGeom>
        </p:spPr>
        <p:txBody>
          <a:bodyPr anchor="t" rtlCol="false" tIns="0" lIns="0" bIns="0" rIns="0">
            <a:spAutoFit/>
          </a:bodyPr>
          <a:lstStyle/>
          <a:p>
            <a:pPr algn="l">
              <a:lnSpc>
                <a:spcPts val="5875"/>
              </a:lnSpc>
            </a:pPr>
            <a:r>
              <a:rPr lang="en-US" sz="5199">
                <a:solidFill>
                  <a:srgbClr val="FFFFFF"/>
                </a:solidFill>
                <a:latin typeface="Archivo Black"/>
                <a:ea typeface="Archivo Black"/>
                <a:cs typeface="Archivo Black"/>
                <a:sym typeface="Archivo Black"/>
              </a:rPr>
              <a:t>Advantages</a:t>
            </a:r>
          </a:p>
        </p:txBody>
      </p:sp>
      <p:sp>
        <p:nvSpPr>
          <p:cNvPr name="AutoShape 9" id="9"/>
          <p:cNvSpPr/>
          <p:nvPr/>
        </p:nvSpPr>
        <p:spPr>
          <a:xfrm flipV="true">
            <a:off x="7147170" y="3527014"/>
            <a:ext cx="8447202" cy="50871"/>
          </a:xfrm>
          <a:prstGeom prst="line">
            <a:avLst/>
          </a:prstGeom>
          <a:ln cap="flat" w="28575">
            <a:solidFill>
              <a:srgbClr val="000000"/>
            </a:solidFill>
            <a:prstDash val="solid"/>
            <a:headEnd type="none" len="sm" w="sm"/>
            <a:tailEnd type="none" len="sm" w="sm"/>
          </a:ln>
        </p:spPr>
      </p:sp>
      <p:grpSp>
        <p:nvGrpSpPr>
          <p:cNvPr name="Group 10" id="10"/>
          <p:cNvGrpSpPr/>
          <p:nvPr/>
        </p:nvGrpSpPr>
        <p:grpSpPr>
          <a:xfrm rot="0">
            <a:off x="15498276" y="3372819"/>
            <a:ext cx="1411613" cy="338418"/>
            <a:chOff x="0" y="0"/>
            <a:chExt cx="465702" cy="111647"/>
          </a:xfrm>
        </p:grpSpPr>
        <p:sp>
          <p:nvSpPr>
            <p:cNvPr name="Freeform 11" id="11"/>
            <p:cNvSpPr/>
            <p:nvPr/>
          </p:nvSpPr>
          <p:spPr>
            <a:xfrm flipH="false" flipV="false" rot="0">
              <a:off x="0" y="0"/>
              <a:ext cx="465702" cy="111647"/>
            </a:xfrm>
            <a:custGeom>
              <a:avLst/>
              <a:gdLst/>
              <a:ahLst/>
              <a:cxnLst/>
              <a:rect r="r" b="b" t="t" l="l"/>
              <a:pathLst>
                <a:path h="111647" w="465702">
                  <a:moveTo>
                    <a:pt x="55823" y="0"/>
                  </a:moveTo>
                  <a:lnTo>
                    <a:pt x="409879" y="0"/>
                  </a:lnTo>
                  <a:cubicBezTo>
                    <a:pt x="440709" y="0"/>
                    <a:pt x="465702" y="24993"/>
                    <a:pt x="465702" y="55823"/>
                  </a:cubicBezTo>
                  <a:lnTo>
                    <a:pt x="465702" y="55823"/>
                  </a:lnTo>
                  <a:cubicBezTo>
                    <a:pt x="465702" y="70629"/>
                    <a:pt x="459821" y="84828"/>
                    <a:pt x="449352" y="95296"/>
                  </a:cubicBezTo>
                  <a:cubicBezTo>
                    <a:pt x="438883" y="105765"/>
                    <a:pt x="424684" y="111647"/>
                    <a:pt x="409879" y="111647"/>
                  </a:cubicBezTo>
                  <a:lnTo>
                    <a:pt x="55823" y="111647"/>
                  </a:lnTo>
                  <a:cubicBezTo>
                    <a:pt x="24993" y="111647"/>
                    <a:pt x="0" y="86654"/>
                    <a:pt x="0" y="55823"/>
                  </a:cubicBezTo>
                  <a:lnTo>
                    <a:pt x="0" y="55823"/>
                  </a:lnTo>
                  <a:cubicBezTo>
                    <a:pt x="0" y="24993"/>
                    <a:pt x="24993" y="0"/>
                    <a:pt x="55823" y="0"/>
                  </a:cubicBezTo>
                  <a:close/>
                </a:path>
              </a:pathLst>
            </a:custGeom>
            <a:gradFill rotWithShape="true">
              <a:gsLst>
                <a:gs pos="0">
                  <a:srgbClr val="65CED1">
                    <a:alpha val="100000"/>
                  </a:srgbClr>
                </a:gs>
                <a:gs pos="100000">
                  <a:srgbClr val="1F4E4F">
                    <a:alpha val="100000"/>
                  </a:srgbClr>
                </a:gs>
              </a:gsLst>
              <a:lin ang="2700000"/>
            </a:gradFill>
          </p:spPr>
        </p:sp>
        <p:sp>
          <p:nvSpPr>
            <p:cNvPr name="TextBox 12" id="12"/>
            <p:cNvSpPr txBox="true"/>
            <p:nvPr/>
          </p:nvSpPr>
          <p:spPr>
            <a:xfrm>
              <a:off x="0" y="-57150"/>
              <a:ext cx="465702" cy="168797"/>
            </a:xfrm>
            <a:prstGeom prst="rect">
              <a:avLst/>
            </a:prstGeom>
          </p:spPr>
          <p:txBody>
            <a:bodyPr anchor="ctr" rtlCol="false" tIns="50800" lIns="50800" bIns="50800" rIns="50800"/>
            <a:lstStyle/>
            <a:p>
              <a:pPr algn="ctr">
                <a:lnSpc>
                  <a:spcPts val="3447"/>
                </a:lnSpc>
              </a:pPr>
            </a:p>
          </p:txBody>
        </p:sp>
      </p:grpSp>
      <p:sp>
        <p:nvSpPr>
          <p:cNvPr name="AutoShape 13" id="13"/>
          <p:cNvSpPr/>
          <p:nvPr/>
        </p:nvSpPr>
        <p:spPr>
          <a:xfrm>
            <a:off x="1481685" y="5129212"/>
            <a:ext cx="6642274" cy="0"/>
          </a:xfrm>
          <a:prstGeom prst="line">
            <a:avLst/>
          </a:prstGeom>
          <a:ln cap="flat" w="28575">
            <a:solidFill>
              <a:srgbClr val="FFFFFF"/>
            </a:solidFill>
            <a:prstDash val="solid"/>
            <a:headEnd type="none" len="sm" w="sm"/>
            <a:tailEnd type="none" len="sm" w="sm"/>
          </a:ln>
        </p:spPr>
      </p:sp>
      <p:sp>
        <p:nvSpPr>
          <p:cNvPr name="TextBox 14" id="14"/>
          <p:cNvSpPr txBox="true"/>
          <p:nvPr/>
        </p:nvSpPr>
        <p:spPr>
          <a:xfrm rot="0">
            <a:off x="1542656" y="4157324"/>
            <a:ext cx="4478233" cy="436245"/>
          </a:xfrm>
          <a:prstGeom prst="rect">
            <a:avLst/>
          </a:prstGeom>
        </p:spPr>
        <p:txBody>
          <a:bodyPr anchor="t" rtlCol="false" tIns="0" lIns="0" bIns="0" rIns="0">
            <a:spAutoFit/>
          </a:bodyPr>
          <a:lstStyle/>
          <a:p>
            <a:pPr algn="l">
              <a:lnSpc>
                <a:spcPts val="3390"/>
              </a:lnSpc>
            </a:pPr>
            <a:r>
              <a:rPr lang="en-US" sz="3000" b="true">
                <a:solidFill>
                  <a:srgbClr val="FFFFFF"/>
                </a:solidFill>
                <a:latin typeface="HK Grotesk Bold"/>
                <a:ea typeface="HK Grotesk Bold"/>
                <a:cs typeface="HK Grotesk Bold"/>
                <a:sym typeface="HK Grotesk Bold"/>
              </a:rPr>
              <a:t>Easily scalable: </a:t>
            </a:r>
          </a:p>
        </p:txBody>
      </p:sp>
      <p:sp>
        <p:nvSpPr>
          <p:cNvPr name="TextBox 15" id="15"/>
          <p:cNvSpPr txBox="true"/>
          <p:nvPr/>
        </p:nvSpPr>
        <p:spPr>
          <a:xfrm rot="0">
            <a:off x="7516954" y="3796962"/>
            <a:ext cx="9206292" cy="1099820"/>
          </a:xfrm>
          <a:prstGeom prst="rect">
            <a:avLst/>
          </a:prstGeom>
        </p:spPr>
        <p:txBody>
          <a:bodyPr anchor="t" rtlCol="false" tIns="0" lIns="0" bIns="0" rIns="0">
            <a:spAutoFit/>
          </a:bodyPr>
          <a:lstStyle/>
          <a:p>
            <a:pPr algn="l" marL="0" indent="0" lvl="0">
              <a:lnSpc>
                <a:spcPts val="4419"/>
              </a:lnSpc>
              <a:spcBef>
                <a:spcPct val="0"/>
              </a:spcBef>
            </a:pPr>
            <a:r>
              <a:rPr lang="en-US" sz="3399" spc="-16">
                <a:solidFill>
                  <a:srgbClr val="343434"/>
                </a:solidFill>
                <a:latin typeface="HK Grotesk"/>
                <a:ea typeface="HK Grotesk"/>
                <a:cs typeface="HK Grotesk"/>
                <a:sym typeface="HK Grotesk"/>
              </a:rPr>
              <a:t>More processors or nodes directly increase detection capacity.</a:t>
            </a:r>
          </a:p>
        </p:txBody>
      </p:sp>
      <p:sp>
        <p:nvSpPr>
          <p:cNvPr name="AutoShape 16" id="16"/>
          <p:cNvSpPr/>
          <p:nvPr/>
        </p:nvSpPr>
        <p:spPr>
          <a:xfrm>
            <a:off x="7147170" y="5179357"/>
            <a:ext cx="8447202" cy="0"/>
          </a:xfrm>
          <a:prstGeom prst="line">
            <a:avLst/>
          </a:prstGeom>
          <a:ln cap="flat" w="28575">
            <a:solidFill>
              <a:srgbClr val="000000"/>
            </a:solidFill>
            <a:prstDash val="solid"/>
            <a:headEnd type="none" len="sm" w="sm"/>
            <a:tailEnd type="none" len="sm" w="sm"/>
          </a:ln>
        </p:spPr>
      </p:sp>
      <p:grpSp>
        <p:nvGrpSpPr>
          <p:cNvPr name="Group 17" id="17"/>
          <p:cNvGrpSpPr/>
          <p:nvPr/>
        </p:nvGrpSpPr>
        <p:grpSpPr>
          <a:xfrm rot="0">
            <a:off x="15498276" y="4974291"/>
            <a:ext cx="1411613" cy="338418"/>
            <a:chOff x="0" y="0"/>
            <a:chExt cx="465702" cy="111647"/>
          </a:xfrm>
        </p:grpSpPr>
        <p:sp>
          <p:nvSpPr>
            <p:cNvPr name="Freeform 18" id="18"/>
            <p:cNvSpPr/>
            <p:nvPr/>
          </p:nvSpPr>
          <p:spPr>
            <a:xfrm flipH="false" flipV="false" rot="0">
              <a:off x="0" y="0"/>
              <a:ext cx="465702" cy="111647"/>
            </a:xfrm>
            <a:custGeom>
              <a:avLst/>
              <a:gdLst/>
              <a:ahLst/>
              <a:cxnLst/>
              <a:rect r="r" b="b" t="t" l="l"/>
              <a:pathLst>
                <a:path h="111647" w="465702">
                  <a:moveTo>
                    <a:pt x="55823" y="0"/>
                  </a:moveTo>
                  <a:lnTo>
                    <a:pt x="409879" y="0"/>
                  </a:lnTo>
                  <a:cubicBezTo>
                    <a:pt x="440709" y="0"/>
                    <a:pt x="465702" y="24993"/>
                    <a:pt x="465702" y="55823"/>
                  </a:cubicBezTo>
                  <a:lnTo>
                    <a:pt x="465702" y="55823"/>
                  </a:lnTo>
                  <a:cubicBezTo>
                    <a:pt x="465702" y="70629"/>
                    <a:pt x="459821" y="84828"/>
                    <a:pt x="449352" y="95296"/>
                  </a:cubicBezTo>
                  <a:cubicBezTo>
                    <a:pt x="438883" y="105765"/>
                    <a:pt x="424684" y="111647"/>
                    <a:pt x="409879" y="111647"/>
                  </a:cubicBezTo>
                  <a:lnTo>
                    <a:pt x="55823" y="111647"/>
                  </a:lnTo>
                  <a:cubicBezTo>
                    <a:pt x="24993" y="111647"/>
                    <a:pt x="0" y="86654"/>
                    <a:pt x="0" y="55823"/>
                  </a:cubicBezTo>
                  <a:lnTo>
                    <a:pt x="0" y="55823"/>
                  </a:lnTo>
                  <a:cubicBezTo>
                    <a:pt x="0" y="24993"/>
                    <a:pt x="24993" y="0"/>
                    <a:pt x="55823" y="0"/>
                  </a:cubicBezTo>
                  <a:close/>
                </a:path>
              </a:pathLst>
            </a:custGeom>
            <a:gradFill rotWithShape="true">
              <a:gsLst>
                <a:gs pos="0">
                  <a:srgbClr val="65CED1">
                    <a:alpha val="100000"/>
                  </a:srgbClr>
                </a:gs>
                <a:gs pos="100000">
                  <a:srgbClr val="1F4E4F">
                    <a:alpha val="100000"/>
                  </a:srgbClr>
                </a:gs>
              </a:gsLst>
              <a:lin ang="2700000"/>
            </a:gradFill>
          </p:spPr>
        </p:sp>
        <p:sp>
          <p:nvSpPr>
            <p:cNvPr name="TextBox 19" id="19"/>
            <p:cNvSpPr txBox="true"/>
            <p:nvPr/>
          </p:nvSpPr>
          <p:spPr>
            <a:xfrm>
              <a:off x="0" y="-57150"/>
              <a:ext cx="465702" cy="168797"/>
            </a:xfrm>
            <a:prstGeom prst="rect">
              <a:avLst/>
            </a:prstGeom>
          </p:spPr>
          <p:txBody>
            <a:bodyPr anchor="ctr" rtlCol="false" tIns="50800" lIns="50800" bIns="50800" rIns="50800"/>
            <a:lstStyle/>
            <a:p>
              <a:pPr algn="ctr">
                <a:lnSpc>
                  <a:spcPts val="3447"/>
                </a:lnSpc>
              </a:pPr>
            </a:p>
          </p:txBody>
        </p:sp>
      </p:grpSp>
      <p:sp>
        <p:nvSpPr>
          <p:cNvPr name="AutoShape 20" id="20"/>
          <p:cNvSpPr/>
          <p:nvPr/>
        </p:nvSpPr>
        <p:spPr>
          <a:xfrm>
            <a:off x="1481685" y="6834968"/>
            <a:ext cx="6642274" cy="0"/>
          </a:xfrm>
          <a:prstGeom prst="line">
            <a:avLst/>
          </a:prstGeom>
          <a:ln cap="flat" w="28575">
            <a:solidFill>
              <a:srgbClr val="FFFFFF"/>
            </a:solidFill>
            <a:prstDash val="solid"/>
            <a:headEnd type="none" len="sm" w="sm"/>
            <a:tailEnd type="none" len="sm" w="sm"/>
          </a:ln>
        </p:spPr>
      </p:sp>
      <p:sp>
        <p:nvSpPr>
          <p:cNvPr name="TextBox 21" id="21"/>
          <p:cNvSpPr txBox="true"/>
          <p:nvPr/>
        </p:nvSpPr>
        <p:spPr>
          <a:xfrm rot="0">
            <a:off x="1481685" y="5940030"/>
            <a:ext cx="4478233" cy="436245"/>
          </a:xfrm>
          <a:prstGeom prst="rect">
            <a:avLst/>
          </a:prstGeom>
        </p:spPr>
        <p:txBody>
          <a:bodyPr anchor="t" rtlCol="false" tIns="0" lIns="0" bIns="0" rIns="0">
            <a:spAutoFit/>
          </a:bodyPr>
          <a:lstStyle/>
          <a:p>
            <a:pPr algn="l">
              <a:lnSpc>
                <a:spcPts val="3390"/>
              </a:lnSpc>
            </a:pPr>
            <a:r>
              <a:rPr lang="en-US" sz="3000" b="true">
                <a:solidFill>
                  <a:srgbClr val="FFFFFF"/>
                </a:solidFill>
                <a:latin typeface="HK Grotesk Bold"/>
                <a:ea typeface="HK Grotesk Bold"/>
                <a:cs typeface="HK Grotesk Bold"/>
                <a:sym typeface="HK Grotesk Bold"/>
              </a:rPr>
              <a:t>Higher accuracy:</a:t>
            </a:r>
          </a:p>
        </p:txBody>
      </p:sp>
      <p:sp>
        <p:nvSpPr>
          <p:cNvPr name="TextBox 22" id="22"/>
          <p:cNvSpPr txBox="true"/>
          <p:nvPr/>
        </p:nvSpPr>
        <p:spPr>
          <a:xfrm rot="0">
            <a:off x="7516954" y="5523170"/>
            <a:ext cx="9206292" cy="1099820"/>
          </a:xfrm>
          <a:prstGeom prst="rect">
            <a:avLst/>
          </a:prstGeom>
        </p:spPr>
        <p:txBody>
          <a:bodyPr anchor="t" rtlCol="false" tIns="0" lIns="0" bIns="0" rIns="0">
            <a:spAutoFit/>
          </a:bodyPr>
          <a:lstStyle/>
          <a:p>
            <a:pPr algn="l" marL="0" indent="0" lvl="0">
              <a:lnSpc>
                <a:spcPts val="4419"/>
              </a:lnSpc>
              <a:spcBef>
                <a:spcPct val="0"/>
              </a:spcBef>
            </a:pPr>
            <a:r>
              <a:rPr lang="en-US" sz="3399" spc="-16">
                <a:solidFill>
                  <a:srgbClr val="343434"/>
                </a:solidFill>
                <a:latin typeface="HK Grotesk"/>
                <a:ea typeface="HK Grotesk"/>
                <a:cs typeface="HK Grotesk"/>
                <a:sym typeface="HK Grotesk"/>
              </a:rPr>
              <a:t>Parallel ML models can check many features of the traffic simultaneously.</a:t>
            </a:r>
          </a:p>
        </p:txBody>
      </p:sp>
      <p:sp>
        <p:nvSpPr>
          <p:cNvPr name="AutoShape 23" id="23"/>
          <p:cNvSpPr/>
          <p:nvPr/>
        </p:nvSpPr>
        <p:spPr>
          <a:xfrm>
            <a:off x="7147170" y="6834968"/>
            <a:ext cx="8308547" cy="0"/>
          </a:xfrm>
          <a:prstGeom prst="line">
            <a:avLst/>
          </a:prstGeom>
          <a:ln cap="flat" w="28575">
            <a:solidFill>
              <a:srgbClr val="000000"/>
            </a:solidFill>
            <a:prstDash val="solid"/>
            <a:headEnd type="none" len="sm" w="sm"/>
            <a:tailEnd type="none" len="sm" w="sm"/>
          </a:ln>
        </p:spPr>
      </p:sp>
      <p:grpSp>
        <p:nvGrpSpPr>
          <p:cNvPr name="Group 24" id="24"/>
          <p:cNvGrpSpPr/>
          <p:nvPr/>
        </p:nvGrpSpPr>
        <p:grpSpPr>
          <a:xfrm rot="0">
            <a:off x="15498276" y="6622990"/>
            <a:ext cx="1411613" cy="338418"/>
            <a:chOff x="0" y="0"/>
            <a:chExt cx="465702" cy="111647"/>
          </a:xfrm>
        </p:grpSpPr>
        <p:sp>
          <p:nvSpPr>
            <p:cNvPr name="Freeform 25" id="25"/>
            <p:cNvSpPr/>
            <p:nvPr/>
          </p:nvSpPr>
          <p:spPr>
            <a:xfrm flipH="false" flipV="false" rot="0">
              <a:off x="0" y="0"/>
              <a:ext cx="465702" cy="111647"/>
            </a:xfrm>
            <a:custGeom>
              <a:avLst/>
              <a:gdLst/>
              <a:ahLst/>
              <a:cxnLst/>
              <a:rect r="r" b="b" t="t" l="l"/>
              <a:pathLst>
                <a:path h="111647" w="465702">
                  <a:moveTo>
                    <a:pt x="55823" y="0"/>
                  </a:moveTo>
                  <a:lnTo>
                    <a:pt x="409879" y="0"/>
                  </a:lnTo>
                  <a:cubicBezTo>
                    <a:pt x="440709" y="0"/>
                    <a:pt x="465702" y="24993"/>
                    <a:pt x="465702" y="55823"/>
                  </a:cubicBezTo>
                  <a:lnTo>
                    <a:pt x="465702" y="55823"/>
                  </a:lnTo>
                  <a:cubicBezTo>
                    <a:pt x="465702" y="70629"/>
                    <a:pt x="459821" y="84828"/>
                    <a:pt x="449352" y="95296"/>
                  </a:cubicBezTo>
                  <a:cubicBezTo>
                    <a:pt x="438883" y="105765"/>
                    <a:pt x="424684" y="111647"/>
                    <a:pt x="409879" y="111647"/>
                  </a:cubicBezTo>
                  <a:lnTo>
                    <a:pt x="55823" y="111647"/>
                  </a:lnTo>
                  <a:cubicBezTo>
                    <a:pt x="24993" y="111647"/>
                    <a:pt x="0" y="86654"/>
                    <a:pt x="0" y="55823"/>
                  </a:cubicBezTo>
                  <a:lnTo>
                    <a:pt x="0" y="55823"/>
                  </a:lnTo>
                  <a:cubicBezTo>
                    <a:pt x="0" y="24993"/>
                    <a:pt x="24993" y="0"/>
                    <a:pt x="55823" y="0"/>
                  </a:cubicBezTo>
                  <a:close/>
                </a:path>
              </a:pathLst>
            </a:custGeom>
            <a:gradFill rotWithShape="true">
              <a:gsLst>
                <a:gs pos="0">
                  <a:srgbClr val="65CED1">
                    <a:alpha val="100000"/>
                  </a:srgbClr>
                </a:gs>
                <a:gs pos="100000">
                  <a:srgbClr val="1F4E4F">
                    <a:alpha val="100000"/>
                  </a:srgbClr>
                </a:gs>
              </a:gsLst>
              <a:lin ang="2700000"/>
            </a:gradFill>
          </p:spPr>
        </p:sp>
        <p:sp>
          <p:nvSpPr>
            <p:cNvPr name="TextBox 26" id="26"/>
            <p:cNvSpPr txBox="true"/>
            <p:nvPr/>
          </p:nvSpPr>
          <p:spPr>
            <a:xfrm>
              <a:off x="0" y="-57150"/>
              <a:ext cx="465702" cy="168797"/>
            </a:xfrm>
            <a:prstGeom prst="rect">
              <a:avLst/>
            </a:prstGeom>
          </p:spPr>
          <p:txBody>
            <a:bodyPr anchor="ctr" rtlCol="false" tIns="50800" lIns="50800" bIns="50800" rIns="50800"/>
            <a:lstStyle/>
            <a:p>
              <a:pPr algn="ctr">
                <a:lnSpc>
                  <a:spcPts val="3447"/>
                </a:lnSpc>
              </a:pPr>
            </a:p>
          </p:txBody>
        </p:sp>
      </p:grpSp>
      <p:sp>
        <p:nvSpPr>
          <p:cNvPr name="AutoShape 27" id="27"/>
          <p:cNvSpPr/>
          <p:nvPr/>
        </p:nvSpPr>
        <p:spPr>
          <a:xfrm>
            <a:off x="1434046" y="8465945"/>
            <a:ext cx="6642274" cy="0"/>
          </a:xfrm>
          <a:prstGeom prst="line">
            <a:avLst/>
          </a:prstGeom>
          <a:ln cap="flat" w="28575">
            <a:solidFill>
              <a:srgbClr val="FFFFFF"/>
            </a:solidFill>
            <a:prstDash val="solid"/>
            <a:headEnd type="none" len="sm" w="sm"/>
            <a:tailEnd type="none" len="sm" w="sm"/>
          </a:ln>
        </p:spPr>
      </p:sp>
      <p:sp>
        <p:nvSpPr>
          <p:cNvPr name="TextBox 28" id="28"/>
          <p:cNvSpPr txBox="true"/>
          <p:nvPr/>
        </p:nvSpPr>
        <p:spPr>
          <a:xfrm rot="0">
            <a:off x="1542656" y="7315981"/>
            <a:ext cx="4478233" cy="864870"/>
          </a:xfrm>
          <a:prstGeom prst="rect">
            <a:avLst/>
          </a:prstGeom>
        </p:spPr>
        <p:txBody>
          <a:bodyPr anchor="t" rtlCol="false" tIns="0" lIns="0" bIns="0" rIns="0">
            <a:spAutoFit/>
          </a:bodyPr>
          <a:lstStyle/>
          <a:p>
            <a:pPr algn="l">
              <a:lnSpc>
                <a:spcPts val="3390"/>
              </a:lnSpc>
            </a:pPr>
            <a:r>
              <a:rPr lang="en-US" sz="3000" b="true">
                <a:solidFill>
                  <a:srgbClr val="FFFFFF"/>
                </a:solidFill>
                <a:latin typeface="HK Grotesk Bold"/>
                <a:ea typeface="HK Grotesk Bold"/>
                <a:cs typeface="HK Grotesk Bold"/>
                <a:sym typeface="HK Grotesk Bold"/>
              </a:rPr>
              <a:t>Handles massive data streams:</a:t>
            </a:r>
          </a:p>
        </p:txBody>
      </p:sp>
      <p:sp>
        <p:nvSpPr>
          <p:cNvPr name="TextBox 29" id="29"/>
          <p:cNvSpPr txBox="true"/>
          <p:nvPr/>
        </p:nvSpPr>
        <p:spPr>
          <a:xfrm rot="0">
            <a:off x="7516954" y="7081031"/>
            <a:ext cx="9206292" cy="1099820"/>
          </a:xfrm>
          <a:prstGeom prst="rect">
            <a:avLst/>
          </a:prstGeom>
        </p:spPr>
        <p:txBody>
          <a:bodyPr anchor="t" rtlCol="false" tIns="0" lIns="0" bIns="0" rIns="0">
            <a:spAutoFit/>
          </a:bodyPr>
          <a:lstStyle/>
          <a:p>
            <a:pPr algn="l" marL="0" indent="0" lvl="0">
              <a:lnSpc>
                <a:spcPts val="4419"/>
              </a:lnSpc>
              <a:spcBef>
                <a:spcPct val="0"/>
              </a:spcBef>
            </a:pPr>
            <a:r>
              <a:rPr lang="en-US" sz="3399" spc="-16">
                <a:solidFill>
                  <a:srgbClr val="343434"/>
                </a:solidFill>
                <a:latin typeface="HK Grotesk"/>
                <a:ea typeface="HK Grotesk"/>
                <a:cs typeface="HK Grotesk"/>
                <a:sym typeface="HK Grotesk"/>
              </a:rPr>
              <a:t>Capable of inspecting millions of events without slowing down.</a:t>
            </a:r>
          </a:p>
        </p:txBody>
      </p:sp>
      <p:sp>
        <p:nvSpPr>
          <p:cNvPr name="AutoShape 30" id="30"/>
          <p:cNvSpPr/>
          <p:nvPr/>
        </p:nvSpPr>
        <p:spPr>
          <a:xfrm flipV="true">
            <a:off x="7147170" y="8465945"/>
            <a:ext cx="8351107" cy="23857"/>
          </a:xfrm>
          <a:prstGeom prst="line">
            <a:avLst/>
          </a:prstGeom>
          <a:ln cap="flat" w="28575">
            <a:solidFill>
              <a:srgbClr val="000000"/>
            </a:solidFill>
            <a:prstDash val="solid"/>
            <a:headEnd type="none" len="sm" w="sm"/>
            <a:tailEnd type="none" len="sm" w="sm"/>
          </a:ln>
        </p:spPr>
      </p:sp>
      <p:grpSp>
        <p:nvGrpSpPr>
          <p:cNvPr name="Group 31" id="31"/>
          <p:cNvGrpSpPr/>
          <p:nvPr/>
        </p:nvGrpSpPr>
        <p:grpSpPr>
          <a:xfrm rot="0">
            <a:off x="15498276" y="8296736"/>
            <a:ext cx="1411613" cy="338418"/>
            <a:chOff x="0" y="0"/>
            <a:chExt cx="465702" cy="111647"/>
          </a:xfrm>
        </p:grpSpPr>
        <p:sp>
          <p:nvSpPr>
            <p:cNvPr name="Freeform 32" id="32"/>
            <p:cNvSpPr/>
            <p:nvPr/>
          </p:nvSpPr>
          <p:spPr>
            <a:xfrm flipH="false" flipV="false" rot="0">
              <a:off x="0" y="0"/>
              <a:ext cx="465702" cy="111647"/>
            </a:xfrm>
            <a:custGeom>
              <a:avLst/>
              <a:gdLst/>
              <a:ahLst/>
              <a:cxnLst/>
              <a:rect r="r" b="b" t="t" l="l"/>
              <a:pathLst>
                <a:path h="111647" w="465702">
                  <a:moveTo>
                    <a:pt x="55823" y="0"/>
                  </a:moveTo>
                  <a:lnTo>
                    <a:pt x="409879" y="0"/>
                  </a:lnTo>
                  <a:cubicBezTo>
                    <a:pt x="440709" y="0"/>
                    <a:pt x="465702" y="24993"/>
                    <a:pt x="465702" y="55823"/>
                  </a:cubicBezTo>
                  <a:lnTo>
                    <a:pt x="465702" y="55823"/>
                  </a:lnTo>
                  <a:cubicBezTo>
                    <a:pt x="465702" y="70629"/>
                    <a:pt x="459821" y="84828"/>
                    <a:pt x="449352" y="95296"/>
                  </a:cubicBezTo>
                  <a:cubicBezTo>
                    <a:pt x="438883" y="105765"/>
                    <a:pt x="424684" y="111647"/>
                    <a:pt x="409879" y="111647"/>
                  </a:cubicBezTo>
                  <a:lnTo>
                    <a:pt x="55823" y="111647"/>
                  </a:lnTo>
                  <a:cubicBezTo>
                    <a:pt x="24993" y="111647"/>
                    <a:pt x="0" y="86654"/>
                    <a:pt x="0" y="55823"/>
                  </a:cubicBezTo>
                  <a:lnTo>
                    <a:pt x="0" y="55823"/>
                  </a:lnTo>
                  <a:cubicBezTo>
                    <a:pt x="0" y="24993"/>
                    <a:pt x="24993" y="0"/>
                    <a:pt x="55823" y="0"/>
                  </a:cubicBezTo>
                  <a:close/>
                </a:path>
              </a:pathLst>
            </a:custGeom>
            <a:gradFill rotWithShape="true">
              <a:gsLst>
                <a:gs pos="0">
                  <a:srgbClr val="65CED1">
                    <a:alpha val="100000"/>
                  </a:srgbClr>
                </a:gs>
                <a:gs pos="100000">
                  <a:srgbClr val="1F4E4F">
                    <a:alpha val="100000"/>
                  </a:srgbClr>
                </a:gs>
              </a:gsLst>
              <a:lin ang="2700000"/>
            </a:gradFill>
          </p:spPr>
        </p:sp>
        <p:sp>
          <p:nvSpPr>
            <p:cNvPr name="TextBox 33" id="33"/>
            <p:cNvSpPr txBox="true"/>
            <p:nvPr/>
          </p:nvSpPr>
          <p:spPr>
            <a:xfrm>
              <a:off x="0" y="-57150"/>
              <a:ext cx="465702" cy="168797"/>
            </a:xfrm>
            <a:prstGeom prst="rect">
              <a:avLst/>
            </a:prstGeom>
          </p:spPr>
          <p:txBody>
            <a:bodyPr anchor="ctr" rtlCol="false" tIns="50800" lIns="50800" bIns="50800" rIns="50800"/>
            <a:lstStyle/>
            <a:p>
              <a:pPr algn="ctr">
                <a:lnSpc>
                  <a:spcPts val="3447"/>
                </a:lnSpc>
              </a:pPr>
            </a:p>
          </p:txBody>
        </p:sp>
      </p:gr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35857"/>
            <a:ext cx="7147170" cy="10287000"/>
            <a:chOff x="0" y="0"/>
            <a:chExt cx="1882382" cy="2709333"/>
          </a:xfrm>
        </p:grpSpPr>
        <p:sp>
          <p:nvSpPr>
            <p:cNvPr name="Freeform 3" id="3"/>
            <p:cNvSpPr/>
            <p:nvPr/>
          </p:nvSpPr>
          <p:spPr>
            <a:xfrm flipH="false" flipV="false" rot="0">
              <a:off x="0" y="0"/>
              <a:ext cx="1882382" cy="2709333"/>
            </a:xfrm>
            <a:custGeom>
              <a:avLst/>
              <a:gdLst/>
              <a:ahLst/>
              <a:cxnLst/>
              <a:rect r="r" b="b" t="t" l="l"/>
              <a:pathLst>
                <a:path h="2709333" w="1882382">
                  <a:moveTo>
                    <a:pt x="0" y="0"/>
                  </a:moveTo>
                  <a:lnTo>
                    <a:pt x="1882382" y="0"/>
                  </a:lnTo>
                  <a:lnTo>
                    <a:pt x="1882382" y="2709333"/>
                  </a:lnTo>
                  <a:lnTo>
                    <a:pt x="0" y="2709333"/>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1882382" cy="2766483"/>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AutoShape 5" id="5"/>
          <p:cNvSpPr/>
          <p:nvPr/>
        </p:nvSpPr>
        <p:spPr>
          <a:xfrm>
            <a:off x="1481685" y="3542028"/>
            <a:ext cx="6642274" cy="0"/>
          </a:xfrm>
          <a:prstGeom prst="line">
            <a:avLst/>
          </a:prstGeom>
          <a:ln cap="flat" w="28575">
            <a:solidFill>
              <a:srgbClr val="FFFFFF"/>
            </a:solidFill>
            <a:prstDash val="solid"/>
            <a:headEnd type="none" len="sm" w="sm"/>
            <a:tailEnd type="none" len="sm" w="sm"/>
          </a:ln>
        </p:spPr>
      </p:sp>
      <p:sp>
        <p:nvSpPr>
          <p:cNvPr name="TextBox 6" id="6"/>
          <p:cNvSpPr txBox="true"/>
          <p:nvPr/>
        </p:nvSpPr>
        <p:spPr>
          <a:xfrm rot="0">
            <a:off x="1481685" y="2578157"/>
            <a:ext cx="4478233" cy="436245"/>
          </a:xfrm>
          <a:prstGeom prst="rect">
            <a:avLst/>
          </a:prstGeom>
        </p:spPr>
        <p:txBody>
          <a:bodyPr anchor="t" rtlCol="false" tIns="0" lIns="0" bIns="0" rIns="0">
            <a:spAutoFit/>
          </a:bodyPr>
          <a:lstStyle/>
          <a:p>
            <a:pPr algn="l">
              <a:lnSpc>
                <a:spcPts val="3390"/>
              </a:lnSpc>
            </a:pPr>
            <a:r>
              <a:rPr lang="en-US" sz="3000" b="true">
                <a:solidFill>
                  <a:srgbClr val="FFFFFF"/>
                </a:solidFill>
                <a:latin typeface="HK Grotesk Bold"/>
                <a:ea typeface="HK Grotesk Bold"/>
                <a:cs typeface="HK Grotesk Bold"/>
                <a:sym typeface="HK Grotesk Bold"/>
              </a:rPr>
              <a:t>Expensive infrastructure: </a:t>
            </a:r>
          </a:p>
        </p:txBody>
      </p:sp>
      <p:sp>
        <p:nvSpPr>
          <p:cNvPr name="TextBox 7" id="7"/>
          <p:cNvSpPr txBox="true"/>
          <p:nvPr/>
        </p:nvSpPr>
        <p:spPr>
          <a:xfrm rot="0">
            <a:off x="7403940" y="2149174"/>
            <a:ext cx="9855360" cy="1099820"/>
          </a:xfrm>
          <a:prstGeom prst="rect">
            <a:avLst/>
          </a:prstGeom>
        </p:spPr>
        <p:txBody>
          <a:bodyPr anchor="t" rtlCol="false" tIns="0" lIns="0" bIns="0" rIns="0">
            <a:spAutoFit/>
          </a:bodyPr>
          <a:lstStyle/>
          <a:p>
            <a:pPr algn="l" marL="0" indent="0" lvl="0">
              <a:lnSpc>
                <a:spcPts val="4419"/>
              </a:lnSpc>
              <a:spcBef>
                <a:spcPct val="0"/>
              </a:spcBef>
            </a:pPr>
            <a:r>
              <a:rPr lang="en-US" sz="3399" spc="-16">
                <a:solidFill>
                  <a:srgbClr val="343434"/>
                </a:solidFill>
                <a:latin typeface="HK Grotesk"/>
                <a:ea typeface="HK Grotesk"/>
                <a:cs typeface="HK Grotesk"/>
                <a:sym typeface="HK Grotesk"/>
              </a:rPr>
              <a:t>Requires clusters, high-speed networks, or GPU hardware.</a:t>
            </a:r>
          </a:p>
        </p:txBody>
      </p:sp>
      <p:sp>
        <p:nvSpPr>
          <p:cNvPr name="TextBox 8" id="8"/>
          <p:cNvSpPr txBox="true"/>
          <p:nvPr/>
        </p:nvSpPr>
        <p:spPr>
          <a:xfrm rot="0">
            <a:off x="1481685" y="665106"/>
            <a:ext cx="6546998" cy="770128"/>
          </a:xfrm>
          <a:prstGeom prst="rect">
            <a:avLst/>
          </a:prstGeom>
        </p:spPr>
        <p:txBody>
          <a:bodyPr anchor="t" rtlCol="false" tIns="0" lIns="0" bIns="0" rIns="0">
            <a:spAutoFit/>
          </a:bodyPr>
          <a:lstStyle/>
          <a:p>
            <a:pPr algn="l">
              <a:lnSpc>
                <a:spcPts val="5875"/>
              </a:lnSpc>
            </a:pPr>
            <a:r>
              <a:rPr lang="en-US" sz="5199">
                <a:solidFill>
                  <a:srgbClr val="FFFFFF"/>
                </a:solidFill>
                <a:latin typeface="Archivo Black"/>
                <a:ea typeface="Archivo Black"/>
                <a:cs typeface="Archivo Black"/>
                <a:sym typeface="Archivo Black"/>
              </a:rPr>
              <a:t>Limitations</a:t>
            </a:r>
          </a:p>
        </p:txBody>
      </p:sp>
      <p:sp>
        <p:nvSpPr>
          <p:cNvPr name="AutoShape 9" id="9"/>
          <p:cNvSpPr/>
          <p:nvPr/>
        </p:nvSpPr>
        <p:spPr>
          <a:xfrm flipV="true">
            <a:off x="7147170" y="3527014"/>
            <a:ext cx="8447202" cy="50871"/>
          </a:xfrm>
          <a:prstGeom prst="line">
            <a:avLst/>
          </a:prstGeom>
          <a:ln cap="flat" w="28575">
            <a:solidFill>
              <a:srgbClr val="000000"/>
            </a:solidFill>
            <a:prstDash val="solid"/>
            <a:headEnd type="none" len="sm" w="sm"/>
            <a:tailEnd type="none" len="sm" w="sm"/>
          </a:ln>
        </p:spPr>
      </p:sp>
      <p:grpSp>
        <p:nvGrpSpPr>
          <p:cNvPr name="Group 10" id="10"/>
          <p:cNvGrpSpPr/>
          <p:nvPr/>
        </p:nvGrpSpPr>
        <p:grpSpPr>
          <a:xfrm rot="0">
            <a:off x="15498276" y="3372819"/>
            <a:ext cx="1411613" cy="338418"/>
            <a:chOff x="0" y="0"/>
            <a:chExt cx="465702" cy="111647"/>
          </a:xfrm>
        </p:grpSpPr>
        <p:sp>
          <p:nvSpPr>
            <p:cNvPr name="Freeform 11" id="11"/>
            <p:cNvSpPr/>
            <p:nvPr/>
          </p:nvSpPr>
          <p:spPr>
            <a:xfrm flipH="false" flipV="false" rot="0">
              <a:off x="0" y="0"/>
              <a:ext cx="465702" cy="111647"/>
            </a:xfrm>
            <a:custGeom>
              <a:avLst/>
              <a:gdLst/>
              <a:ahLst/>
              <a:cxnLst/>
              <a:rect r="r" b="b" t="t" l="l"/>
              <a:pathLst>
                <a:path h="111647" w="465702">
                  <a:moveTo>
                    <a:pt x="55823" y="0"/>
                  </a:moveTo>
                  <a:lnTo>
                    <a:pt x="409879" y="0"/>
                  </a:lnTo>
                  <a:cubicBezTo>
                    <a:pt x="440709" y="0"/>
                    <a:pt x="465702" y="24993"/>
                    <a:pt x="465702" y="55823"/>
                  </a:cubicBezTo>
                  <a:lnTo>
                    <a:pt x="465702" y="55823"/>
                  </a:lnTo>
                  <a:cubicBezTo>
                    <a:pt x="465702" y="70629"/>
                    <a:pt x="459821" y="84828"/>
                    <a:pt x="449352" y="95296"/>
                  </a:cubicBezTo>
                  <a:cubicBezTo>
                    <a:pt x="438883" y="105765"/>
                    <a:pt x="424684" y="111647"/>
                    <a:pt x="409879" y="111647"/>
                  </a:cubicBezTo>
                  <a:lnTo>
                    <a:pt x="55823" y="111647"/>
                  </a:lnTo>
                  <a:cubicBezTo>
                    <a:pt x="24993" y="111647"/>
                    <a:pt x="0" y="86654"/>
                    <a:pt x="0" y="55823"/>
                  </a:cubicBezTo>
                  <a:lnTo>
                    <a:pt x="0" y="55823"/>
                  </a:lnTo>
                  <a:cubicBezTo>
                    <a:pt x="0" y="24993"/>
                    <a:pt x="24993" y="0"/>
                    <a:pt x="55823" y="0"/>
                  </a:cubicBezTo>
                  <a:close/>
                </a:path>
              </a:pathLst>
            </a:custGeom>
            <a:gradFill rotWithShape="true">
              <a:gsLst>
                <a:gs pos="0">
                  <a:srgbClr val="65CED1">
                    <a:alpha val="100000"/>
                  </a:srgbClr>
                </a:gs>
                <a:gs pos="100000">
                  <a:srgbClr val="1F4E4F">
                    <a:alpha val="100000"/>
                  </a:srgbClr>
                </a:gs>
              </a:gsLst>
              <a:lin ang="2700000"/>
            </a:gradFill>
          </p:spPr>
        </p:sp>
        <p:sp>
          <p:nvSpPr>
            <p:cNvPr name="TextBox 12" id="12"/>
            <p:cNvSpPr txBox="true"/>
            <p:nvPr/>
          </p:nvSpPr>
          <p:spPr>
            <a:xfrm>
              <a:off x="0" y="-57150"/>
              <a:ext cx="465702" cy="168797"/>
            </a:xfrm>
            <a:prstGeom prst="rect">
              <a:avLst/>
            </a:prstGeom>
          </p:spPr>
          <p:txBody>
            <a:bodyPr anchor="ctr" rtlCol="false" tIns="50800" lIns="50800" bIns="50800" rIns="50800"/>
            <a:lstStyle/>
            <a:p>
              <a:pPr algn="ctr">
                <a:lnSpc>
                  <a:spcPts val="3447"/>
                </a:lnSpc>
              </a:pPr>
            </a:p>
          </p:txBody>
        </p:sp>
      </p:grpSp>
      <p:sp>
        <p:nvSpPr>
          <p:cNvPr name="AutoShape 13" id="13"/>
          <p:cNvSpPr/>
          <p:nvPr/>
        </p:nvSpPr>
        <p:spPr>
          <a:xfrm>
            <a:off x="1481685" y="5129212"/>
            <a:ext cx="6642274" cy="0"/>
          </a:xfrm>
          <a:prstGeom prst="line">
            <a:avLst/>
          </a:prstGeom>
          <a:ln cap="flat" w="28575">
            <a:solidFill>
              <a:srgbClr val="FFFFFF"/>
            </a:solidFill>
            <a:prstDash val="solid"/>
            <a:headEnd type="none" len="sm" w="sm"/>
            <a:tailEnd type="none" len="sm" w="sm"/>
          </a:ln>
        </p:spPr>
      </p:sp>
      <p:sp>
        <p:nvSpPr>
          <p:cNvPr name="TextBox 14" id="14"/>
          <p:cNvSpPr txBox="true"/>
          <p:nvPr/>
        </p:nvSpPr>
        <p:spPr>
          <a:xfrm rot="0">
            <a:off x="1481685" y="4157324"/>
            <a:ext cx="4478233" cy="436245"/>
          </a:xfrm>
          <a:prstGeom prst="rect">
            <a:avLst/>
          </a:prstGeom>
        </p:spPr>
        <p:txBody>
          <a:bodyPr anchor="t" rtlCol="false" tIns="0" lIns="0" bIns="0" rIns="0">
            <a:spAutoFit/>
          </a:bodyPr>
          <a:lstStyle/>
          <a:p>
            <a:pPr algn="l">
              <a:lnSpc>
                <a:spcPts val="3390"/>
              </a:lnSpc>
            </a:pPr>
            <a:r>
              <a:rPr lang="en-US" sz="3000" b="true">
                <a:solidFill>
                  <a:srgbClr val="FFFFFF"/>
                </a:solidFill>
                <a:latin typeface="HK Grotesk Bold"/>
                <a:ea typeface="HK Grotesk Bold"/>
                <a:cs typeface="HK Grotesk Bold"/>
                <a:sym typeface="HK Grotesk Bold"/>
              </a:rPr>
              <a:t>Complex system design:</a:t>
            </a:r>
          </a:p>
        </p:txBody>
      </p:sp>
      <p:sp>
        <p:nvSpPr>
          <p:cNvPr name="TextBox 15" id="15"/>
          <p:cNvSpPr txBox="true"/>
          <p:nvPr/>
        </p:nvSpPr>
        <p:spPr>
          <a:xfrm rot="0">
            <a:off x="7516954" y="3796962"/>
            <a:ext cx="9206292" cy="1099820"/>
          </a:xfrm>
          <a:prstGeom prst="rect">
            <a:avLst/>
          </a:prstGeom>
        </p:spPr>
        <p:txBody>
          <a:bodyPr anchor="t" rtlCol="false" tIns="0" lIns="0" bIns="0" rIns="0">
            <a:spAutoFit/>
          </a:bodyPr>
          <a:lstStyle/>
          <a:p>
            <a:pPr algn="l" marL="0" indent="0" lvl="0">
              <a:lnSpc>
                <a:spcPts val="4419"/>
              </a:lnSpc>
              <a:spcBef>
                <a:spcPct val="0"/>
              </a:spcBef>
            </a:pPr>
            <a:r>
              <a:rPr lang="en-US" sz="3399" spc="-16">
                <a:solidFill>
                  <a:srgbClr val="343434"/>
                </a:solidFill>
                <a:latin typeface="HK Grotesk"/>
                <a:ea typeface="HK Grotesk"/>
                <a:cs typeface="HK Grotesk"/>
                <a:sym typeface="HK Grotesk"/>
              </a:rPr>
              <a:t>Building and maintaining distributed IDS/IPS systems is technically challenging.</a:t>
            </a:r>
          </a:p>
        </p:txBody>
      </p:sp>
      <p:sp>
        <p:nvSpPr>
          <p:cNvPr name="AutoShape 16" id="16"/>
          <p:cNvSpPr/>
          <p:nvPr/>
        </p:nvSpPr>
        <p:spPr>
          <a:xfrm>
            <a:off x="7147170" y="5179357"/>
            <a:ext cx="8447202" cy="0"/>
          </a:xfrm>
          <a:prstGeom prst="line">
            <a:avLst/>
          </a:prstGeom>
          <a:ln cap="flat" w="28575">
            <a:solidFill>
              <a:srgbClr val="000000"/>
            </a:solidFill>
            <a:prstDash val="solid"/>
            <a:headEnd type="none" len="sm" w="sm"/>
            <a:tailEnd type="none" len="sm" w="sm"/>
          </a:ln>
        </p:spPr>
      </p:sp>
      <p:grpSp>
        <p:nvGrpSpPr>
          <p:cNvPr name="Group 17" id="17"/>
          <p:cNvGrpSpPr/>
          <p:nvPr/>
        </p:nvGrpSpPr>
        <p:grpSpPr>
          <a:xfrm rot="0">
            <a:off x="15498276" y="4974291"/>
            <a:ext cx="1411613" cy="338418"/>
            <a:chOff x="0" y="0"/>
            <a:chExt cx="465702" cy="111647"/>
          </a:xfrm>
        </p:grpSpPr>
        <p:sp>
          <p:nvSpPr>
            <p:cNvPr name="Freeform 18" id="18"/>
            <p:cNvSpPr/>
            <p:nvPr/>
          </p:nvSpPr>
          <p:spPr>
            <a:xfrm flipH="false" flipV="false" rot="0">
              <a:off x="0" y="0"/>
              <a:ext cx="465702" cy="111647"/>
            </a:xfrm>
            <a:custGeom>
              <a:avLst/>
              <a:gdLst/>
              <a:ahLst/>
              <a:cxnLst/>
              <a:rect r="r" b="b" t="t" l="l"/>
              <a:pathLst>
                <a:path h="111647" w="465702">
                  <a:moveTo>
                    <a:pt x="55823" y="0"/>
                  </a:moveTo>
                  <a:lnTo>
                    <a:pt x="409879" y="0"/>
                  </a:lnTo>
                  <a:cubicBezTo>
                    <a:pt x="440709" y="0"/>
                    <a:pt x="465702" y="24993"/>
                    <a:pt x="465702" y="55823"/>
                  </a:cubicBezTo>
                  <a:lnTo>
                    <a:pt x="465702" y="55823"/>
                  </a:lnTo>
                  <a:cubicBezTo>
                    <a:pt x="465702" y="70629"/>
                    <a:pt x="459821" y="84828"/>
                    <a:pt x="449352" y="95296"/>
                  </a:cubicBezTo>
                  <a:cubicBezTo>
                    <a:pt x="438883" y="105765"/>
                    <a:pt x="424684" y="111647"/>
                    <a:pt x="409879" y="111647"/>
                  </a:cubicBezTo>
                  <a:lnTo>
                    <a:pt x="55823" y="111647"/>
                  </a:lnTo>
                  <a:cubicBezTo>
                    <a:pt x="24993" y="111647"/>
                    <a:pt x="0" y="86654"/>
                    <a:pt x="0" y="55823"/>
                  </a:cubicBezTo>
                  <a:lnTo>
                    <a:pt x="0" y="55823"/>
                  </a:lnTo>
                  <a:cubicBezTo>
                    <a:pt x="0" y="24993"/>
                    <a:pt x="24993" y="0"/>
                    <a:pt x="55823" y="0"/>
                  </a:cubicBezTo>
                  <a:close/>
                </a:path>
              </a:pathLst>
            </a:custGeom>
            <a:gradFill rotWithShape="true">
              <a:gsLst>
                <a:gs pos="0">
                  <a:srgbClr val="65CED1">
                    <a:alpha val="100000"/>
                  </a:srgbClr>
                </a:gs>
                <a:gs pos="100000">
                  <a:srgbClr val="1F4E4F">
                    <a:alpha val="100000"/>
                  </a:srgbClr>
                </a:gs>
              </a:gsLst>
              <a:lin ang="2700000"/>
            </a:gradFill>
          </p:spPr>
        </p:sp>
        <p:sp>
          <p:nvSpPr>
            <p:cNvPr name="TextBox 19" id="19"/>
            <p:cNvSpPr txBox="true"/>
            <p:nvPr/>
          </p:nvSpPr>
          <p:spPr>
            <a:xfrm>
              <a:off x="0" y="-57150"/>
              <a:ext cx="465702" cy="168797"/>
            </a:xfrm>
            <a:prstGeom prst="rect">
              <a:avLst/>
            </a:prstGeom>
          </p:spPr>
          <p:txBody>
            <a:bodyPr anchor="ctr" rtlCol="false" tIns="50800" lIns="50800" bIns="50800" rIns="50800"/>
            <a:lstStyle/>
            <a:p>
              <a:pPr algn="ctr">
                <a:lnSpc>
                  <a:spcPts val="3447"/>
                </a:lnSpc>
              </a:pPr>
            </a:p>
          </p:txBody>
        </p:sp>
      </p:grpSp>
      <p:sp>
        <p:nvSpPr>
          <p:cNvPr name="AutoShape 20" id="20"/>
          <p:cNvSpPr/>
          <p:nvPr/>
        </p:nvSpPr>
        <p:spPr>
          <a:xfrm>
            <a:off x="1481685" y="6834968"/>
            <a:ext cx="6642274" cy="0"/>
          </a:xfrm>
          <a:prstGeom prst="line">
            <a:avLst/>
          </a:prstGeom>
          <a:ln cap="flat" w="28575">
            <a:solidFill>
              <a:srgbClr val="FFFFFF"/>
            </a:solidFill>
            <a:prstDash val="solid"/>
            <a:headEnd type="none" len="sm" w="sm"/>
            <a:tailEnd type="none" len="sm" w="sm"/>
          </a:ln>
        </p:spPr>
      </p:sp>
      <p:sp>
        <p:nvSpPr>
          <p:cNvPr name="TextBox 21" id="21"/>
          <p:cNvSpPr txBox="true"/>
          <p:nvPr/>
        </p:nvSpPr>
        <p:spPr>
          <a:xfrm rot="0">
            <a:off x="1481685" y="5940030"/>
            <a:ext cx="4478233" cy="436245"/>
          </a:xfrm>
          <a:prstGeom prst="rect">
            <a:avLst/>
          </a:prstGeom>
        </p:spPr>
        <p:txBody>
          <a:bodyPr anchor="t" rtlCol="false" tIns="0" lIns="0" bIns="0" rIns="0">
            <a:spAutoFit/>
          </a:bodyPr>
          <a:lstStyle/>
          <a:p>
            <a:pPr algn="l">
              <a:lnSpc>
                <a:spcPts val="3390"/>
              </a:lnSpc>
            </a:pPr>
            <a:r>
              <a:rPr lang="en-US" sz="3000" b="true">
                <a:solidFill>
                  <a:srgbClr val="FFFFFF"/>
                </a:solidFill>
                <a:latin typeface="HK Grotesk Bold"/>
                <a:ea typeface="HK Grotesk Bold"/>
                <a:cs typeface="HK Grotesk Bold"/>
                <a:sym typeface="HK Grotesk Bold"/>
              </a:rPr>
              <a:t>Risk of false alerts:</a:t>
            </a:r>
          </a:p>
        </p:txBody>
      </p:sp>
      <p:sp>
        <p:nvSpPr>
          <p:cNvPr name="TextBox 22" id="22"/>
          <p:cNvSpPr txBox="true"/>
          <p:nvPr/>
        </p:nvSpPr>
        <p:spPr>
          <a:xfrm rot="0">
            <a:off x="7516954" y="5523170"/>
            <a:ext cx="9206292" cy="1099820"/>
          </a:xfrm>
          <a:prstGeom prst="rect">
            <a:avLst/>
          </a:prstGeom>
        </p:spPr>
        <p:txBody>
          <a:bodyPr anchor="t" rtlCol="false" tIns="0" lIns="0" bIns="0" rIns="0">
            <a:spAutoFit/>
          </a:bodyPr>
          <a:lstStyle/>
          <a:p>
            <a:pPr algn="l" marL="0" indent="0" lvl="0">
              <a:lnSpc>
                <a:spcPts val="4419"/>
              </a:lnSpc>
              <a:spcBef>
                <a:spcPct val="0"/>
              </a:spcBef>
            </a:pPr>
            <a:r>
              <a:rPr lang="en-US" sz="3399" spc="-16">
                <a:solidFill>
                  <a:srgbClr val="343434"/>
                </a:solidFill>
                <a:latin typeface="HK Grotesk"/>
                <a:ea typeface="HK Grotesk"/>
                <a:cs typeface="HK Grotesk"/>
                <a:sym typeface="HK Grotesk"/>
              </a:rPr>
              <a:t>Anomaly-based models may misclassify normal behavior as suspicious.</a:t>
            </a:r>
          </a:p>
        </p:txBody>
      </p:sp>
      <p:sp>
        <p:nvSpPr>
          <p:cNvPr name="AutoShape 23" id="23"/>
          <p:cNvSpPr/>
          <p:nvPr/>
        </p:nvSpPr>
        <p:spPr>
          <a:xfrm>
            <a:off x="7147170" y="6834968"/>
            <a:ext cx="8308547" cy="0"/>
          </a:xfrm>
          <a:prstGeom prst="line">
            <a:avLst/>
          </a:prstGeom>
          <a:ln cap="flat" w="28575">
            <a:solidFill>
              <a:srgbClr val="000000"/>
            </a:solidFill>
            <a:prstDash val="solid"/>
            <a:headEnd type="none" len="sm" w="sm"/>
            <a:tailEnd type="none" len="sm" w="sm"/>
          </a:ln>
        </p:spPr>
      </p:sp>
      <p:grpSp>
        <p:nvGrpSpPr>
          <p:cNvPr name="Group 24" id="24"/>
          <p:cNvGrpSpPr/>
          <p:nvPr/>
        </p:nvGrpSpPr>
        <p:grpSpPr>
          <a:xfrm rot="0">
            <a:off x="15498276" y="6622990"/>
            <a:ext cx="1411613" cy="338418"/>
            <a:chOff x="0" y="0"/>
            <a:chExt cx="465702" cy="111647"/>
          </a:xfrm>
        </p:grpSpPr>
        <p:sp>
          <p:nvSpPr>
            <p:cNvPr name="Freeform 25" id="25"/>
            <p:cNvSpPr/>
            <p:nvPr/>
          </p:nvSpPr>
          <p:spPr>
            <a:xfrm flipH="false" flipV="false" rot="0">
              <a:off x="0" y="0"/>
              <a:ext cx="465702" cy="111647"/>
            </a:xfrm>
            <a:custGeom>
              <a:avLst/>
              <a:gdLst/>
              <a:ahLst/>
              <a:cxnLst/>
              <a:rect r="r" b="b" t="t" l="l"/>
              <a:pathLst>
                <a:path h="111647" w="465702">
                  <a:moveTo>
                    <a:pt x="55823" y="0"/>
                  </a:moveTo>
                  <a:lnTo>
                    <a:pt x="409879" y="0"/>
                  </a:lnTo>
                  <a:cubicBezTo>
                    <a:pt x="440709" y="0"/>
                    <a:pt x="465702" y="24993"/>
                    <a:pt x="465702" y="55823"/>
                  </a:cubicBezTo>
                  <a:lnTo>
                    <a:pt x="465702" y="55823"/>
                  </a:lnTo>
                  <a:cubicBezTo>
                    <a:pt x="465702" y="70629"/>
                    <a:pt x="459821" y="84828"/>
                    <a:pt x="449352" y="95296"/>
                  </a:cubicBezTo>
                  <a:cubicBezTo>
                    <a:pt x="438883" y="105765"/>
                    <a:pt x="424684" y="111647"/>
                    <a:pt x="409879" y="111647"/>
                  </a:cubicBezTo>
                  <a:lnTo>
                    <a:pt x="55823" y="111647"/>
                  </a:lnTo>
                  <a:cubicBezTo>
                    <a:pt x="24993" y="111647"/>
                    <a:pt x="0" y="86654"/>
                    <a:pt x="0" y="55823"/>
                  </a:cubicBezTo>
                  <a:lnTo>
                    <a:pt x="0" y="55823"/>
                  </a:lnTo>
                  <a:cubicBezTo>
                    <a:pt x="0" y="24993"/>
                    <a:pt x="24993" y="0"/>
                    <a:pt x="55823" y="0"/>
                  </a:cubicBezTo>
                  <a:close/>
                </a:path>
              </a:pathLst>
            </a:custGeom>
            <a:gradFill rotWithShape="true">
              <a:gsLst>
                <a:gs pos="0">
                  <a:srgbClr val="65CED1">
                    <a:alpha val="100000"/>
                  </a:srgbClr>
                </a:gs>
                <a:gs pos="100000">
                  <a:srgbClr val="1F4E4F">
                    <a:alpha val="100000"/>
                  </a:srgbClr>
                </a:gs>
              </a:gsLst>
              <a:lin ang="2700000"/>
            </a:gradFill>
          </p:spPr>
        </p:sp>
        <p:sp>
          <p:nvSpPr>
            <p:cNvPr name="TextBox 26" id="26"/>
            <p:cNvSpPr txBox="true"/>
            <p:nvPr/>
          </p:nvSpPr>
          <p:spPr>
            <a:xfrm>
              <a:off x="0" y="-57150"/>
              <a:ext cx="465702" cy="168797"/>
            </a:xfrm>
            <a:prstGeom prst="rect">
              <a:avLst/>
            </a:prstGeom>
          </p:spPr>
          <p:txBody>
            <a:bodyPr anchor="ctr" rtlCol="false" tIns="50800" lIns="50800" bIns="50800" rIns="50800"/>
            <a:lstStyle/>
            <a:p>
              <a:pPr algn="ctr">
                <a:lnSpc>
                  <a:spcPts val="3447"/>
                </a:lnSpc>
              </a:pPr>
            </a:p>
          </p:txBody>
        </p:sp>
      </p:grpSp>
      <p:sp>
        <p:nvSpPr>
          <p:cNvPr name="AutoShape 27" id="27"/>
          <p:cNvSpPr/>
          <p:nvPr/>
        </p:nvSpPr>
        <p:spPr>
          <a:xfrm flipV="true">
            <a:off x="1481685" y="8465945"/>
            <a:ext cx="6594636" cy="0"/>
          </a:xfrm>
          <a:prstGeom prst="line">
            <a:avLst/>
          </a:prstGeom>
          <a:ln cap="flat" w="28575">
            <a:solidFill>
              <a:srgbClr val="FFFFFF"/>
            </a:solidFill>
            <a:prstDash val="solid"/>
            <a:headEnd type="none" len="sm" w="sm"/>
            <a:tailEnd type="none" len="sm" w="sm"/>
          </a:ln>
        </p:spPr>
      </p:sp>
      <p:sp>
        <p:nvSpPr>
          <p:cNvPr name="TextBox 28" id="28"/>
          <p:cNvSpPr txBox="true"/>
          <p:nvPr/>
        </p:nvSpPr>
        <p:spPr>
          <a:xfrm rot="0">
            <a:off x="1542656" y="7649356"/>
            <a:ext cx="4478233" cy="436245"/>
          </a:xfrm>
          <a:prstGeom prst="rect">
            <a:avLst/>
          </a:prstGeom>
        </p:spPr>
        <p:txBody>
          <a:bodyPr anchor="t" rtlCol="false" tIns="0" lIns="0" bIns="0" rIns="0">
            <a:spAutoFit/>
          </a:bodyPr>
          <a:lstStyle/>
          <a:p>
            <a:pPr algn="l">
              <a:lnSpc>
                <a:spcPts val="3390"/>
              </a:lnSpc>
            </a:pPr>
            <a:r>
              <a:rPr lang="en-US" sz="3000" b="true">
                <a:solidFill>
                  <a:srgbClr val="FFFFFF"/>
                </a:solidFill>
                <a:latin typeface="HK Grotesk Bold"/>
                <a:ea typeface="HK Grotesk Bold"/>
                <a:cs typeface="HK Grotesk Bold"/>
                <a:sym typeface="HK Grotesk Bold"/>
              </a:rPr>
              <a:t>Data security concerns:</a:t>
            </a:r>
          </a:p>
        </p:txBody>
      </p:sp>
      <p:sp>
        <p:nvSpPr>
          <p:cNvPr name="TextBox 29" id="29"/>
          <p:cNvSpPr txBox="true"/>
          <p:nvPr/>
        </p:nvSpPr>
        <p:spPr>
          <a:xfrm rot="0">
            <a:off x="7516954" y="7081031"/>
            <a:ext cx="9206292" cy="1099820"/>
          </a:xfrm>
          <a:prstGeom prst="rect">
            <a:avLst/>
          </a:prstGeom>
        </p:spPr>
        <p:txBody>
          <a:bodyPr anchor="t" rtlCol="false" tIns="0" lIns="0" bIns="0" rIns="0">
            <a:spAutoFit/>
          </a:bodyPr>
          <a:lstStyle/>
          <a:p>
            <a:pPr algn="l" marL="0" indent="0" lvl="0">
              <a:lnSpc>
                <a:spcPts val="4419"/>
              </a:lnSpc>
              <a:spcBef>
                <a:spcPct val="0"/>
              </a:spcBef>
            </a:pPr>
            <a:r>
              <a:rPr lang="en-US" sz="3399" spc="-16">
                <a:solidFill>
                  <a:srgbClr val="343434"/>
                </a:solidFill>
                <a:latin typeface="HK Grotesk"/>
                <a:ea typeface="HK Grotesk"/>
                <a:cs typeface="HK Grotesk"/>
                <a:sym typeface="HK Grotesk"/>
              </a:rPr>
              <a:t>Sensitive network logs must be shared carefully across nodes.</a:t>
            </a:r>
          </a:p>
        </p:txBody>
      </p:sp>
      <p:sp>
        <p:nvSpPr>
          <p:cNvPr name="AutoShape 30" id="30"/>
          <p:cNvSpPr/>
          <p:nvPr/>
        </p:nvSpPr>
        <p:spPr>
          <a:xfrm flipV="true">
            <a:off x="7147170" y="8465945"/>
            <a:ext cx="8351107" cy="23857"/>
          </a:xfrm>
          <a:prstGeom prst="line">
            <a:avLst/>
          </a:prstGeom>
          <a:ln cap="flat" w="28575">
            <a:solidFill>
              <a:srgbClr val="000000"/>
            </a:solidFill>
            <a:prstDash val="solid"/>
            <a:headEnd type="none" len="sm" w="sm"/>
            <a:tailEnd type="none" len="sm" w="sm"/>
          </a:ln>
        </p:spPr>
      </p:sp>
      <p:grpSp>
        <p:nvGrpSpPr>
          <p:cNvPr name="Group 31" id="31"/>
          <p:cNvGrpSpPr/>
          <p:nvPr/>
        </p:nvGrpSpPr>
        <p:grpSpPr>
          <a:xfrm rot="0">
            <a:off x="15498276" y="8296736"/>
            <a:ext cx="1411613" cy="338418"/>
            <a:chOff x="0" y="0"/>
            <a:chExt cx="465702" cy="111647"/>
          </a:xfrm>
        </p:grpSpPr>
        <p:sp>
          <p:nvSpPr>
            <p:cNvPr name="Freeform 32" id="32"/>
            <p:cNvSpPr/>
            <p:nvPr/>
          </p:nvSpPr>
          <p:spPr>
            <a:xfrm flipH="false" flipV="false" rot="0">
              <a:off x="0" y="0"/>
              <a:ext cx="465702" cy="111647"/>
            </a:xfrm>
            <a:custGeom>
              <a:avLst/>
              <a:gdLst/>
              <a:ahLst/>
              <a:cxnLst/>
              <a:rect r="r" b="b" t="t" l="l"/>
              <a:pathLst>
                <a:path h="111647" w="465702">
                  <a:moveTo>
                    <a:pt x="55823" y="0"/>
                  </a:moveTo>
                  <a:lnTo>
                    <a:pt x="409879" y="0"/>
                  </a:lnTo>
                  <a:cubicBezTo>
                    <a:pt x="440709" y="0"/>
                    <a:pt x="465702" y="24993"/>
                    <a:pt x="465702" y="55823"/>
                  </a:cubicBezTo>
                  <a:lnTo>
                    <a:pt x="465702" y="55823"/>
                  </a:lnTo>
                  <a:cubicBezTo>
                    <a:pt x="465702" y="70629"/>
                    <a:pt x="459821" y="84828"/>
                    <a:pt x="449352" y="95296"/>
                  </a:cubicBezTo>
                  <a:cubicBezTo>
                    <a:pt x="438883" y="105765"/>
                    <a:pt x="424684" y="111647"/>
                    <a:pt x="409879" y="111647"/>
                  </a:cubicBezTo>
                  <a:lnTo>
                    <a:pt x="55823" y="111647"/>
                  </a:lnTo>
                  <a:cubicBezTo>
                    <a:pt x="24993" y="111647"/>
                    <a:pt x="0" y="86654"/>
                    <a:pt x="0" y="55823"/>
                  </a:cubicBezTo>
                  <a:lnTo>
                    <a:pt x="0" y="55823"/>
                  </a:lnTo>
                  <a:cubicBezTo>
                    <a:pt x="0" y="24993"/>
                    <a:pt x="24993" y="0"/>
                    <a:pt x="55823" y="0"/>
                  </a:cubicBezTo>
                  <a:close/>
                </a:path>
              </a:pathLst>
            </a:custGeom>
            <a:gradFill rotWithShape="true">
              <a:gsLst>
                <a:gs pos="0">
                  <a:srgbClr val="65CED1">
                    <a:alpha val="100000"/>
                  </a:srgbClr>
                </a:gs>
                <a:gs pos="100000">
                  <a:srgbClr val="1F4E4F">
                    <a:alpha val="100000"/>
                  </a:srgbClr>
                </a:gs>
              </a:gsLst>
              <a:lin ang="2700000"/>
            </a:gradFill>
          </p:spPr>
        </p:sp>
        <p:sp>
          <p:nvSpPr>
            <p:cNvPr name="TextBox 33" id="33"/>
            <p:cNvSpPr txBox="true"/>
            <p:nvPr/>
          </p:nvSpPr>
          <p:spPr>
            <a:xfrm>
              <a:off x="0" y="-57150"/>
              <a:ext cx="465702" cy="168797"/>
            </a:xfrm>
            <a:prstGeom prst="rect">
              <a:avLst/>
            </a:prstGeom>
          </p:spPr>
          <p:txBody>
            <a:bodyPr anchor="ctr" rtlCol="false" tIns="50800" lIns="50800" bIns="50800" rIns="50800"/>
            <a:lstStyle/>
            <a:p>
              <a:pPr algn="ctr">
                <a:lnSpc>
                  <a:spcPts val="3447"/>
                </a:lnSpc>
              </a:pP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25" y="8910428"/>
            <a:ext cx="18277775" cy="1376572"/>
            <a:chOff x="0" y="0"/>
            <a:chExt cx="4813900" cy="362554"/>
          </a:xfrm>
        </p:grpSpPr>
        <p:sp>
          <p:nvSpPr>
            <p:cNvPr name="Freeform 3" id="3"/>
            <p:cNvSpPr/>
            <p:nvPr/>
          </p:nvSpPr>
          <p:spPr>
            <a:xfrm flipH="false" flipV="false" rot="0">
              <a:off x="0" y="0"/>
              <a:ext cx="4813900" cy="362554"/>
            </a:xfrm>
            <a:custGeom>
              <a:avLst/>
              <a:gdLst/>
              <a:ahLst/>
              <a:cxnLst/>
              <a:rect r="r" b="b" t="t" l="l"/>
              <a:pathLst>
                <a:path h="362554" w="4813900">
                  <a:moveTo>
                    <a:pt x="0" y="0"/>
                  </a:moveTo>
                  <a:lnTo>
                    <a:pt x="4813900" y="0"/>
                  </a:lnTo>
                  <a:lnTo>
                    <a:pt x="4813900" y="362554"/>
                  </a:lnTo>
                  <a:lnTo>
                    <a:pt x="0" y="362554"/>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4813900" cy="419704"/>
            </a:xfrm>
            <a:prstGeom prst="rect">
              <a:avLst/>
            </a:prstGeom>
          </p:spPr>
          <p:txBody>
            <a:bodyPr anchor="ctr" rtlCol="false" tIns="50800" lIns="50800" bIns="50800" rIns="50800"/>
            <a:lstStyle/>
            <a:p>
              <a:pPr algn="ctr" marL="0" indent="0" lvl="0">
                <a:lnSpc>
                  <a:spcPts val="3447"/>
                </a:lnSpc>
                <a:spcBef>
                  <a:spcPct val="0"/>
                </a:spcBef>
              </a:pPr>
            </a:p>
          </p:txBody>
        </p:sp>
      </p:grpSp>
      <p:grpSp>
        <p:nvGrpSpPr>
          <p:cNvPr name="Group 5" id="5"/>
          <p:cNvGrpSpPr/>
          <p:nvPr/>
        </p:nvGrpSpPr>
        <p:grpSpPr>
          <a:xfrm rot="0">
            <a:off x="11556440" y="1237093"/>
            <a:ext cx="6356909" cy="8021207"/>
            <a:chOff x="0" y="0"/>
            <a:chExt cx="959875" cy="1211179"/>
          </a:xfrm>
        </p:grpSpPr>
        <p:sp>
          <p:nvSpPr>
            <p:cNvPr name="Freeform 6" id="6"/>
            <p:cNvSpPr/>
            <p:nvPr/>
          </p:nvSpPr>
          <p:spPr>
            <a:xfrm flipH="false" flipV="false" rot="0">
              <a:off x="0" y="0"/>
              <a:ext cx="959875" cy="1211179"/>
            </a:xfrm>
            <a:custGeom>
              <a:avLst/>
              <a:gdLst/>
              <a:ahLst/>
              <a:cxnLst/>
              <a:rect r="r" b="b" t="t" l="l"/>
              <a:pathLst>
                <a:path h="1211179" w="959875">
                  <a:moveTo>
                    <a:pt x="71855" y="0"/>
                  </a:moveTo>
                  <a:lnTo>
                    <a:pt x="888020" y="0"/>
                  </a:lnTo>
                  <a:cubicBezTo>
                    <a:pt x="907077" y="0"/>
                    <a:pt x="925354" y="7570"/>
                    <a:pt x="938829" y="21046"/>
                  </a:cubicBezTo>
                  <a:cubicBezTo>
                    <a:pt x="952304" y="34521"/>
                    <a:pt x="959875" y="52798"/>
                    <a:pt x="959875" y="71855"/>
                  </a:cubicBezTo>
                  <a:lnTo>
                    <a:pt x="959875" y="1139324"/>
                  </a:lnTo>
                  <a:cubicBezTo>
                    <a:pt x="959875" y="1158381"/>
                    <a:pt x="952304" y="1176658"/>
                    <a:pt x="938829" y="1190133"/>
                  </a:cubicBezTo>
                  <a:cubicBezTo>
                    <a:pt x="925354" y="1203609"/>
                    <a:pt x="907077" y="1211179"/>
                    <a:pt x="888020" y="1211179"/>
                  </a:cubicBezTo>
                  <a:lnTo>
                    <a:pt x="71855" y="1211179"/>
                  </a:lnTo>
                  <a:cubicBezTo>
                    <a:pt x="52798" y="1211179"/>
                    <a:pt x="34521" y="1203609"/>
                    <a:pt x="21046" y="1190133"/>
                  </a:cubicBezTo>
                  <a:cubicBezTo>
                    <a:pt x="7570" y="1176658"/>
                    <a:pt x="0" y="1158381"/>
                    <a:pt x="0" y="1139324"/>
                  </a:cubicBezTo>
                  <a:lnTo>
                    <a:pt x="0" y="71855"/>
                  </a:lnTo>
                  <a:cubicBezTo>
                    <a:pt x="0" y="52798"/>
                    <a:pt x="7570" y="34521"/>
                    <a:pt x="21046" y="21046"/>
                  </a:cubicBezTo>
                  <a:cubicBezTo>
                    <a:pt x="34521" y="7570"/>
                    <a:pt x="52798" y="0"/>
                    <a:pt x="71855" y="0"/>
                  </a:cubicBezTo>
                  <a:close/>
                </a:path>
              </a:pathLst>
            </a:custGeom>
            <a:blipFill>
              <a:blip r:embed="rId2"/>
              <a:stretch>
                <a:fillRect l="-44517" t="0" r="-44517" b="0"/>
              </a:stretch>
            </a:blipFill>
          </p:spPr>
        </p:sp>
      </p:grpSp>
      <p:grpSp>
        <p:nvGrpSpPr>
          <p:cNvPr name="Group 7" id="7"/>
          <p:cNvGrpSpPr/>
          <p:nvPr/>
        </p:nvGrpSpPr>
        <p:grpSpPr>
          <a:xfrm rot="0">
            <a:off x="893083" y="2158592"/>
            <a:ext cx="10217987" cy="6429054"/>
            <a:chOff x="0" y="0"/>
            <a:chExt cx="4993608" cy="3141928"/>
          </a:xfrm>
        </p:grpSpPr>
        <p:sp>
          <p:nvSpPr>
            <p:cNvPr name="Freeform 8" id="8"/>
            <p:cNvSpPr/>
            <p:nvPr/>
          </p:nvSpPr>
          <p:spPr>
            <a:xfrm flipH="false" flipV="false" rot="0">
              <a:off x="0" y="0"/>
              <a:ext cx="4993608" cy="3141928"/>
            </a:xfrm>
            <a:custGeom>
              <a:avLst/>
              <a:gdLst/>
              <a:ahLst/>
              <a:cxnLst/>
              <a:rect r="r" b="b" t="t" l="l"/>
              <a:pathLst>
                <a:path h="3141928" w="4993608">
                  <a:moveTo>
                    <a:pt x="6819" y="0"/>
                  </a:moveTo>
                  <a:lnTo>
                    <a:pt x="4986789" y="0"/>
                  </a:lnTo>
                  <a:cubicBezTo>
                    <a:pt x="4988597" y="0"/>
                    <a:pt x="4990332" y="718"/>
                    <a:pt x="4991611" y="1997"/>
                  </a:cubicBezTo>
                  <a:cubicBezTo>
                    <a:pt x="4992889" y="3276"/>
                    <a:pt x="4993608" y="5011"/>
                    <a:pt x="4993608" y="6819"/>
                  </a:cubicBezTo>
                  <a:lnTo>
                    <a:pt x="4993608" y="3135108"/>
                  </a:lnTo>
                  <a:cubicBezTo>
                    <a:pt x="4993608" y="3138875"/>
                    <a:pt x="4990555" y="3141928"/>
                    <a:pt x="4986789" y="3141928"/>
                  </a:cubicBezTo>
                  <a:lnTo>
                    <a:pt x="6819" y="3141928"/>
                  </a:lnTo>
                  <a:cubicBezTo>
                    <a:pt x="5011" y="3141928"/>
                    <a:pt x="3276" y="3141209"/>
                    <a:pt x="1997" y="3139930"/>
                  </a:cubicBezTo>
                  <a:cubicBezTo>
                    <a:pt x="718" y="3138651"/>
                    <a:pt x="0" y="3136917"/>
                    <a:pt x="0" y="3135108"/>
                  </a:cubicBezTo>
                  <a:lnTo>
                    <a:pt x="0" y="6819"/>
                  </a:lnTo>
                  <a:cubicBezTo>
                    <a:pt x="0" y="5011"/>
                    <a:pt x="718" y="3276"/>
                    <a:pt x="1997" y="1997"/>
                  </a:cubicBezTo>
                  <a:cubicBezTo>
                    <a:pt x="3276" y="718"/>
                    <a:pt x="5011" y="0"/>
                    <a:pt x="6819" y="0"/>
                  </a:cubicBezTo>
                  <a:close/>
                </a:path>
              </a:pathLst>
            </a:custGeom>
            <a:gradFill rotWithShape="true">
              <a:gsLst>
                <a:gs pos="0">
                  <a:srgbClr val="65CED1">
                    <a:alpha val="100000"/>
                  </a:srgbClr>
                </a:gs>
                <a:gs pos="100000">
                  <a:srgbClr val="1F4E4F">
                    <a:alpha val="100000"/>
                  </a:srgbClr>
                </a:gs>
              </a:gsLst>
              <a:lin ang="2700000"/>
            </a:gradFill>
            <a:ln cap="sq">
              <a:noFill/>
              <a:prstDash val="solid"/>
              <a:miter/>
            </a:ln>
          </p:spPr>
        </p:sp>
        <p:sp>
          <p:nvSpPr>
            <p:cNvPr name="TextBox 9" id="9"/>
            <p:cNvSpPr txBox="true"/>
            <p:nvPr/>
          </p:nvSpPr>
          <p:spPr>
            <a:xfrm>
              <a:off x="0" y="-47625"/>
              <a:ext cx="4993608" cy="3189553"/>
            </a:xfrm>
            <a:prstGeom prst="rect">
              <a:avLst/>
            </a:prstGeom>
          </p:spPr>
          <p:txBody>
            <a:bodyPr anchor="ctr" rtlCol="false" tIns="50800" lIns="50800" bIns="50800" rIns="50800"/>
            <a:lstStyle/>
            <a:p>
              <a:pPr algn="ctr" marL="0" indent="0" lvl="0">
                <a:lnSpc>
                  <a:spcPts val="3587"/>
                </a:lnSpc>
                <a:spcBef>
                  <a:spcPct val="0"/>
                </a:spcBef>
              </a:pPr>
            </a:p>
          </p:txBody>
        </p:sp>
      </p:grpSp>
      <p:sp>
        <p:nvSpPr>
          <p:cNvPr name="TextBox 10" id="10"/>
          <p:cNvSpPr txBox="true"/>
          <p:nvPr/>
        </p:nvSpPr>
        <p:spPr>
          <a:xfrm rot="0">
            <a:off x="893083" y="2270499"/>
            <a:ext cx="9642743" cy="5887720"/>
          </a:xfrm>
          <a:prstGeom prst="rect">
            <a:avLst/>
          </a:prstGeom>
        </p:spPr>
        <p:txBody>
          <a:bodyPr anchor="t" rtlCol="false" tIns="0" lIns="0" bIns="0" rIns="0">
            <a:spAutoFit/>
          </a:bodyPr>
          <a:lstStyle/>
          <a:p>
            <a:pPr algn="just" marL="798828" indent="-399414" lvl="1">
              <a:lnSpc>
                <a:spcPts val="5179"/>
              </a:lnSpc>
              <a:buFont typeface="Arial"/>
              <a:buChar char="•"/>
            </a:pPr>
            <a:r>
              <a:rPr lang="en-US" sz="3699">
                <a:solidFill>
                  <a:srgbClr val="FFFFFF"/>
                </a:solidFill>
                <a:latin typeface="HK Grotesk"/>
                <a:ea typeface="HK Grotesk"/>
                <a:cs typeface="HK Grotesk"/>
                <a:sym typeface="HK Grotesk"/>
              </a:rPr>
              <a:t>Modern networks generate data too fast for traditional security tools to analyze alone.</a:t>
            </a:r>
          </a:p>
          <a:p>
            <a:pPr algn="just" marL="798828" indent="-399414" lvl="1">
              <a:lnSpc>
                <a:spcPts val="5179"/>
              </a:lnSpc>
              <a:buFont typeface="Arial"/>
              <a:buChar char="•"/>
            </a:pPr>
            <a:r>
              <a:rPr lang="en-US" sz="3699">
                <a:solidFill>
                  <a:srgbClr val="FFFFFF"/>
                </a:solidFill>
                <a:latin typeface="HK Grotesk"/>
                <a:ea typeface="HK Grotesk"/>
                <a:cs typeface="HK Grotesk"/>
                <a:sym typeface="HK Grotesk"/>
              </a:rPr>
              <a:t>Parallel and distributed computing provide the speed and scale needed to detect cyber attacks the moment they occur.</a:t>
            </a:r>
          </a:p>
          <a:p>
            <a:pPr algn="just" marL="798828" indent="-399414" lvl="1">
              <a:lnSpc>
                <a:spcPts val="5179"/>
              </a:lnSpc>
              <a:spcBef>
                <a:spcPct val="0"/>
              </a:spcBef>
              <a:buFont typeface="Arial"/>
              <a:buChar char="•"/>
            </a:pPr>
            <a:r>
              <a:rPr lang="en-US" sz="3699">
                <a:solidFill>
                  <a:srgbClr val="FFFFFF"/>
                </a:solidFill>
                <a:latin typeface="HK Grotesk"/>
                <a:ea typeface="HK Grotesk"/>
                <a:cs typeface="HK Grotesk"/>
                <a:sym typeface="HK Grotesk"/>
              </a:rPr>
              <a:t>As cyber threats evolve, parallelism will remain a foundational technology for real-time defense and secure digital systems.</a:t>
            </a:r>
          </a:p>
        </p:txBody>
      </p:sp>
      <p:sp>
        <p:nvSpPr>
          <p:cNvPr name="TextBox 11" id="11"/>
          <p:cNvSpPr txBox="true"/>
          <p:nvPr/>
        </p:nvSpPr>
        <p:spPr>
          <a:xfrm rot="0">
            <a:off x="1028700" y="789491"/>
            <a:ext cx="8773902" cy="933304"/>
          </a:xfrm>
          <a:prstGeom prst="rect">
            <a:avLst/>
          </a:prstGeom>
        </p:spPr>
        <p:txBody>
          <a:bodyPr anchor="t" rtlCol="false" tIns="0" lIns="0" bIns="0" rIns="0">
            <a:spAutoFit/>
          </a:bodyPr>
          <a:lstStyle/>
          <a:p>
            <a:pPr algn="l">
              <a:lnSpc>
                <a:spcPts val="7245"/>
              </a:lnSpc>
            </a:pPr>
            <a:r>
              <a:rPr lang="en-US" sz="6412">
                <a:gradFill>
                  <a:gsLst>
                    <a:gs pos="0">
                      <a:srgbClr val="000000">
                        <a:alpha val="100000"/>
                      </a:srgbClr>
                    </a:gs>
                    <a:gs pos="50000">
                      <a:srgbClr val="082D2F">
                        <a:alpha val="100000"/>
                      </a:srgbClr>
                    </a:gs>
                    <a:gs pos="100000">
                      <a:srgbClr val="28949C">
                        <a:alpha val="100000"/>
                      </a:srgbClr>
                    </a:gs>
                  </a:gsLst>
                  <a:path path="circle">
                    <a:fillToRect l="50000" r="50000" t="50000" b="50000"/>
                  </a:path>
                </a:gradFill>
                <a:latin typeface="Archivo Black"/>
                <a:ea typeface="Archivo Black"/>
                <a:cs typeface="Archivo Black"/>
                <a:sym typeface="Archivo Black"/>
              </a:rPr>
              <a:t>Conclusion</a:t>
            </a:r>
          </a:p>
        </p:txBody>
      </p:sp>
    </p:spTree>
  </p:cSld>
  <p:clrMapOvr>
    <a:masterClrMapping/>
  </p:clrMapOvr>
</p:sld>
</file>

<file path=ppt/slides/slide23.xml><?xml version="1.0" encoding="utf-8"?>
<p:sld xmlns:p="http://schemas.openxmlformats.org/presentationml/2006/main" xmlns:a="http://schemas.openxmlformats.org/drawingml/2006/main">
  <p:cSld>
    <p:bg>
      <p:bgPr>
        <a:gradFill rotWithShape="true">
          <a:gsLst>
            <a:gs pos="0">
              <a:srgbClr val="000000">
                <a:alpha val="100000"/>
              </a:srgbClr>
            </a:gs>
            <a:gs pos="50000">
              <a:srgbClr val="082D2F">
                <a:alpha val="100000"/>
              </a:srgbClr>
            </a:gs>
            <a:gs pos="100000">
              <a:srgbClr val="28949C">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10800000">
            <a:off x="11348756" y="2426287"/>
            <a:ext cx="2711833" cy="197291"/>
            <a:chOff x="0" y="0"/>
            <a:chExt cx="952142" cy="69270"/>
          </a:xfrm>
        </p:grpSpPr>
        <p:sp>
          <p:nvSpPr>
            <p:cNvPr name="Freeform 3" id="3"/>
            <p:cNvSpPr/>
            <p:nvPr/>
          </p:nvSpPr>
          <p:spPr>
            <a:xfrm flipH="false" flipV="false" rot="0">
              <a:off x="0" y="0"/>
              <a:ext cx="952142" cy="69270"/>
            </a:xfrm>
            <a:custGeom>
              <a:avLst/>
              <a:gdLst/>
              <a:ahLst/>
              <a:cxnLst/>
              <a:rect r="r" b="b" t="t" l="l"/>
              <a:pathLst>
                <a:path h="69270" w="952142">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true">
              <a:gsLst>
                <a:gs pos="0">
                  <a:srgbClr val="65CED1">
                    <a:alpha val="100000"/>
                  </a:srgbClr>
                </a:gs>
                <a:gs pos="100000">
                  <a:srgbClr val="000000">
                    <a:alpha val="100000"/>
                  </a:srgbClr>
                </a:gs>
              </a:gsLst>
              <a:lin ang="2700000"/>
            </a:gradFill>
          </p:spPr>
        </p:sp>
        <p:sp>
          <p:nvSpPr>
            <p:cNvPr name="TextBox 4" id="4"/>
            <p:cNvSpPr txBox="true"/>
            <p:nvPr/>
          </p:nvSpPr>
          <p:spPr>
            <a:xfrm>
              <a:off x="0" y="-57150"/>
              <a:ext cx="952142" cy="126420"/>
            </a:xfrm>
            <a:prstGeom prst="rect">
              <a:avLst/>
            </a:prstGeom>
          </p:spPr>
          <p:txBody>
            <a:bodyPr anchor="ctr" rtlCol="false" tIns="50800" lIns="50800" bIns="50800" rIns="50800"/>
            <a:lstStyle/>
            <a:p>
              <a:pPr algn="ctr">
                <a:lnSpc>
                  <a:spcPts val="3447"/>
                </a:lnSpc>
              </a:pPr>
            </a:p>
          </p:txBody>
        </p:sp>
      </p:grpSp>
      <p:grpSp>
        <p:nvGrpSpPr>
          <p:cNvPr name="Group 5" id="5"/>
          <p:cNvGrpSpPr/>
          <p:nvPr/>
        </p:nvGrpSpPr>
        <p:grpSpPr>
          <a:xfrm rot="-10800000">
            <a:off x="10388194" y="1971777"/>
            <a:ext cx="2711833" cy="197291"/>
            <a:chOff x="0" y="0"/>
            <a:chExt cx="952142" cy="69270"/>
          </a:xfrm>
        </p:grpSpPr>
        <p:sp>
          <p:nvSpPr>
            <p:cNvPr name="Freeform 6" id="6"/>
            <p:cNvSpPr/>
            <p:nvPr/>
          </p:nvSpPr>
          <p:spPr>
            <a:xfrm flipH="false" flipV="false" rot="0">
              <a:off x="0" y="0"/>
              <a:ext cx="952142" cy="69270"/>
            </a:xfrm>
            <a:custGeom>
              <a:avLst/>
              <a:gdLst/>
              <a:ahLst/>
              <a:cxnLst/>
              <a:rect r="r" b="b" t="t" l="l"/>
              <a:pathLst>
                <a:path h="69270" w="952142">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true">
              <a:gsLst>
                <a:gs pos="0">
                  <a:srgbClr val="65CED1">
                    <a:alpha val="100000"/>
                  </a:srgbClr>
                </a:gs>
                <a:gs pos="100000">
                  <a:srgbClr val="000000">
                    <a:alpha val="100000"/>
                  </a:srgbClr>
                </a:gs>
              </a:gsLst>
              <a:lin ang="2700000"/>
            </a:gradFill>
          </p:spPr>
        </p:sp>
        <p:sp>
          <p:nvSpPr>
            <p:cNvPr name="TextBox 7" id="7"/>
            <p:cNvSpPr txBox="true"/>
            <p:nvPr/>
          </p:nvSpPr>
          <p:spPr>
            <a:xfrm>
              <a:off x="0" y="-57150"/>
              <a:ext cx="952142" cy="126420"/>
            </a:xfrm>
            <a:prstGeom prst="rect">
              <a:avLst/>
            </a:prstGeom>
          </p:spPr>
          <p:txBody>
            <a:bodyPr anchor="ctr" rtlCol="false" tIns="50800" lIns="50800" bIns="50800" rIns="50800"/>
            <a:lstStyle/>
            <a:p>
              <a:pPr algn="ctr">
                <a:lnSpc>
                  <a:spcPts val="3447"/>
                </a:lnSpc>
              </a:pPr>
            </a:p>
          </p:txBody>
        </p:sp>
      </p:grpSp>
      <p:grpSp>
        <p:nvGrpSpPr>
          <p:cNvPr name="Group 8" id="8"/>
          <p:cNvGrpSpPr/>
          <p:nvPr/>
        </p:nvGrpSpPr>
        <p:grpSpPr>
          <a:xfrm rot="0">
            <a:off x="4248305" y="7673612"/>
            <a:ext cx="2669433" cy="194207"/>
            <a:chOff x="0" y="0"/>
            <a:chExt cx="952142" cy="69270"/>
          </a:xfrm>
        </p:grpSpPr>
        <p:sp>
          <p:nvSpPr>
            <p:cNvPr name="Freeform 9" id="9"/>
            <p:cNvSpPr/>
            <p:nvPr/>
          </p:nvSpPr>
          <p:spPr>
            <a:xfrm flipH="false" flipV="false" rot="0">
              <a:off x="0" y="0"/>
              <a:ext cx="952142" cy="69270"/>
            </a:xfrm>
            <a:custGeom>
              <a:avLst/>
              <a:gdLst/>
              <a:ahLst/>
              <a:cxnLst/>
              <a:rect r="r" b="b" t="t" l="l"/>
              <a:pathLst>
                <a:path h="69270" w="952142">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true">
              <a:gsLst>
                <a:gs pos="0">
                  <a:srgbClr val="65CED1">
                    <a:alpha val="100000"/>
                  </a:srgbClr>
                </a:gs>
                <a:gs pos="100000">
                  <a:srgbClr val="000000">
                    <a:alpha val="100000"/>
                  </a:srgbClr>
                </a:gs>
              </a:gsLst>
              <a:lin ang="2700000"/>
            </a:gradFill>
          </p:spPr>
        </p:sp>
        <p:sp>
          <p:nvSpPr>
            <p:cNvPr name="TextBox 10" id="10"/>
            <p:cNvSpPr txBox="true"/>
            <p:nvPr/>
          </p:nvSpPr>
          <p:spPr>
            <a:xfrm>
              <a:off x="0" y="-57150"/>
              <a:ext cx="952142" cy="126420"/>
            </a:xfrm>
            <a:prstGeom prst="rect">
              <a:avLst/>
            </a:prstGeom>
          </p:spPr>
          <p:txBody>
            <a:bodyPr anchor="ctr" rtlCol="false" tIns="50800" lIns="50800" bIns="50800" rIns="50800"/>
            <a:lstStyle/>
            <a:p>
              <a:pPr algn="ctr">
                <a:lnSpc>
                  <a:spcPts val="3447"/>
                </a:lnSpc>
              </a:pPr>
            </a:p>
          </p:txBody>
        </p:sp>
      </p:grpSp>
      <p:grpSp>
        <p:nvGrpSpPr>
          <p:cNvPr name="Group 11" id="11"/>
          <p:cNvGrpSpPr/>
          <p:nvPr/>
        </p:nvGrpSpPr>
        <p:grpSpPr>
          <a:xfrm rot="0">
            <a:off x="5193848" y="8121016"/>
            <a:ext cx="2669433" cy="194207"/>
            <a:chOff x="0" y="0"/>
            <a:chExt cx="952142" cy="69270"/>
          </a:xfrm>
        </p:grpSpPr>
        <p:sp>
          <p:nvSpPr>
            <p:cNvPr name="Freeform 12" id="12"/>
            <p:cNvSpPr/>
            <p:nvPr/>
          </p:nvSpPr>
          <p:spPr>
            <a:xfrm flipH="false" flipV="false" rot="0">
              <a:off x="0" y="0"/>
              <a:ext cx="952142" cy="69270"/>
            </a:xfrm>
            <a:custGeom>
              <a:avLst/>
              <a:gdLst/>
              <a:ahLst/>
              <a:cxnLst/>
              <a:rect r="r" b="b" t="t" l="l"/>
              <a:pathLst>
                <a:path h="69270" w="952142">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true">
              <a:gsLst>
                <a:gs pos="0">
                  <a:srgbClr val="65CED1">
                    <a:alpha val="100000"/>
                  </a:srgbClr>
                </a:gs>
                <a:gs pos="100000">
                  <a:srgbClr val="000000">
                    <a:alpha val="100000"/>
                  </a:srgbClr>
                </a:gs>
              </a:gsLst>
              <a:lin ang="2700000"/>
            </a:gradFill>
          </p:spPr>
        </p:sp>
        <p:sp>
          <p:nvSpPr>
            <p:cNvPr name="TextBox 13" id="13"/>
            <p:cNvSpPr txBox="true"/>
            <p:nvPr/>
          </p:nvSpPr>
          <p:spPr>
            <a:xfrm>
              <a:off x="0" y="-57150"/>
              <a:ext cx="952142" cy="126420"/>
            </a:xfrm>
            <a:prstGeom prst="rect">
              <a:avLst/>
            </a:prstGeom>
          </p:spPr>
          <p:txBody>
            <a:bodyPr anchor="ctr" rtlCol="false" tIns="50800" lIns="50800" bIns="50800" rIns="50800"/>
            <a:lstStyle/>
            <a:p>
              <a:pPr algn="ctr">
                <a:lnSpc>
                  <a:spcPts val="3447"/>
                </a:lnSpc>
              </a:pPr>
            </a:p>
          </p:txBody>
        </p:sp>
      </p:grpSp>
      <p:sp>
        <p:nvSpPr>
          <p:cNvPr name="TextBox 14" id="14"/>
          <p:cNvSpPr txBox="true"/>
          <p:nvPr/>
        </p:nvSpPr>
        <p:spPr>
          <a:xfrm rot="0">
            <a:off x="4757049" y="4665599"/>
            <a:ext cx="8773902" cy="993902"/>
          </a:xfrm>
          <a:prstGeom prst="rect">
            <a:avLst/>
          </a:prstGeom>
        </p:spPr>
        <p:txBody>
          <a:bodyPr anchor="t" rtlCol="false" tIns="0" lIns="0" bIns="0" rIns="0">
            <a:spAutoFit/>
          </a:bodyPr>
          <a:lstStyle/>
          <a:p>
            <a:pPr algn="ctr">
              <a:lnSpc>
                <a:spcPts val="7684"/>
              </a:lnSpc>
            </a:pPr>
            <a:r>
              <a:rPr lang="en-US" sz="6800">
                <a:solidFill>
                  <a:srgbClr val="FFFFFF"/>
                </a:solidFill>
                <a:latin typeface="Archivo Black"/>
                <a:ea typeface="Archivo Black"/>
                <a:cs typeface="Archivo Black"/>
                <a:sym typeface="Archivo Black"/>
              </a:rPr>
              <a:t>Any Question?</a:t>
            </a:r>
          </a:p>
        </p:txBody>
      </p:sp>
    </p:spTree>
  </p:cSld>
  <p:clrMapOvr>
    <a:masterClrMapping/>
  </p:clrMapOvr>
</p:sld>
</file>

<file path=ppt/slides/slide24.xml><?xml version="1.0" encoding="utf-8"?>
<p:sld xmlns:p="http://schemas.openxmlformats.org/presentationml/2006/main" xmlns:a="http://schemas.openxmlformats.org/drawingml/2006/main">
  <p:cSld>
    <p:bg>
      <p:bgPr>
        <a:gradFill rotWithShape="true">
          <a:gsLst>
            <a:gs pos="0">
              <a:srgbClr val="000000">
                <a:alpha val="100000"/>
              </a:srgbClr>
            </a:gs>
            <a:gs pos="50000">
              <a:srgbClr val="082D2F">
                <a:alpha val="100000"/>
              </a:srgbClr>
            </a:gs>
            <a:gs pos="100000">
              <a:srgbClr val="28949C">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10800000">
            <a:off x="11348756" y="2426287"/>
            <a:ext cx="2711833" cy="197291"/>
            <a:chOff x="0" y="0"/>
            <a:chExt cx="952142" cy="69270"/>
          </a:xfrm>
        </p:grpSpPr>
        <p:sp>
          <p:nvSpPr>
            <p:cNvPr name="Freeform 3" id="3"/>
            <p:cNvSpPr/>
            <p:nvPr/>
          </p:nvSpPr>
          <p:spPr>
            <a:xfrm flipH="false" flipV="false" rot="0">
              <a:off x="0" y="0"/>
              <a:ext cx="952142" cy="69270"/>
            </a:xfrm>
            <a:custGeom>
              <a:avLst/>
              <a:gdLst/>
              <a:ahLst/>
              <a:cxnLst/>
              <a:rect r="r" b="b" t="t" l="l"/>
              <a:pathLst>
                <a:path h="69270" w="952142">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true">
              <a:gsLst>
                <a:gs pos="0">
                  <a:srgbClr val="65CED1">
                    <a:alpha val="100000"/>
                  </a:srgbClr>
                </a:gs>
                <a:gs pos="100000">
                  <a:srgbClr val="000000">
                    <a:alpha val="100000"/>
                  </a:srgbClr>
                </a:gs>
              </a:gsLst>
              <a:lin ang="2700000"/>
            </a:gradFill>
          </p:spPr>
        </p:sp>
        <p:sp>
          <p:nvSpPr>
            <p:cNvPr name="TextBox 4" id="4"/>
            <p:cNvSpPr txBox="true"/>
            <p:nvPr/>
          </p:nvSpPr>
          <p:spPr>
            <a:xfrm>
              <a:off x="0" y="-57150"/>
              <a:ext cx="952142" cy="126420"/>
            </a:xfrm>
            <a:prstGeom prst="rect">
              <a:avLst/>
            </a:prstGeom>
          </p:spPr>
          <p:txBody>
            <a:bodyPr anchor="ctr" rtlCol="false" tIns="50800" lIns="50800" bIns="50800" rIns="50800"/>
            <a:lstStyle/>
            <a:p>
              <a:pPr algn="ctr">
                <a:lnSpc>
                  <a:spcPts val="3447"/>
                </a:lnSpc>
              </a:pPr>
            </a:p>
          </p:txBody>
        </p:sp>
      </p:grpSp>
      <p:grpSp>
        <p:nvGrpSpPr>
          <p:cNvPr name="Group 5" id="5"/>
          <p:cNvGrpSpPr/>
          <p:nvPr/>
        </p:nvGrpSpPr>
        <p:grpSpPr>
          <a:xfrm rot="-10800000">
            <a:off x="10388194" y="1971777"/>
            <a:ext cx="2711833" cy="197291"/>
            <a:chOff x="0" y="0"/>
            <a:chExt cx="952142" cy="69270"/>
          </a:xfrm>
        </p:grpSpPr>
        <p:sp>
          <p:nvSpPr>
            <p:cNvPr name="Freeform 6" id="6"/>
            <p:cNvSpPr/>
            <p:nvPr/>
          </p:nvSpPr>
          <p:spPr>
            <a:xfrm flipH="false" flipV="false" rot="0">
              <a:off x="0" y="0"/>
              <a:ext cx="952142" cy="69270"/>
            </a:xfrm>
            <a:custGeom>
              <a:avLst/>
              <a:gdLst/>
              <a:ahLst/>
              <a:cxnLst/>
              <a:rect r="r" b="b" t="t" l="l"/>
              <a:pathLst>
                <a:path h="69270" w="952142">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true">
              <a:gsLst>
                <a:gs pos="0">
                  <a:srgbClr val="65CED1">
                    <a:alpha val="100000"/>
                  </a:srgbClr>
                </a:gs>
                <a:gs pos="100000">
                  <a:srgbClr val="000000">
                    <a:alpha val="100000"/>
                  </a:srgbClr>
                </a:gs>
              </a:gsLst>
              <a:lin ang="2700000"/>
            </a:gradFill>
          </p:spPr>
        </p:sp>
        <p:sp>
          <p:nvSpPr>
            <p:cNvPr name="TextBox 7" id="7"/>
            <p:cNvSpPr txBox="true"/>
            <p:nvPr/>
          </p:nvSpPr>
          <p:spPr>
            <a:xfrm>
              <a:off x="0" y="-57150"/>
              <a:ext cx="952142" cy="126420"/>
            </a:xfrm>
            <a:prstGeom prst="rect">
              <a:avLst/>
            </a:prstGeom>
          </p:spPr>
          <p:txBody>
            <a:bodyPr anchor="ctr" rtlCol="false" tIns="50800" lIns="50800" bIns="50800" rIns="50800"/>
            <a:lstStyle/>
            <a:p>
              <a:pPr algn="ctr">
                <a:lnSpc>
                  <a:spcPts val="3447"/>
                </a:lnSpc>
              </a:pPr>
            </a:p>
          </p:txBody>
        </p:sp>
      </p:grpSp>
      <p:grpSp>
        <p:nvGrpSpPr>
          <p:cNvPr name="Group 8" id="8"/>
          <p:cNvGrpSpPr/>
          <p:nvPr/>
        </p:nvGrpSpPr>
        <p:grpSpPr>
          <a:xfrm rot="0">
            <a:off x="4248305" y="7673612"/>
            <a:ext cx="2669433" cy="194207"/>
            <a:chOff x="0" y="0"/>
            <a:chExt cx="952142" cy="69270"/>
          </a:xfrm>
        </p:grpSpPr>
        <p:sp>
          <p:nvSpPr>
            <p:cNvPr name="Freeform 9" id="9"/>
            <p:cNvSpPr/>
            <p:nvPr/>
          </p:nvSpPr>
          <p:spPr>
            <a:xfrm flipH="false" flipV="false" rot="0">
              <a:off x="0" y="0"/>
              <a:ext cx="952142" cy="69270"/>
            </a:xfrm>
            <a:custGeom>
              <a:avLst/>
              <a:gdLst/>
              <a:ahLst/>
              <a:cxnLst/>
              <a:rect r="r" b="b" t="t" l="l"/>
              <a:pathLst>
                <a:path h="69270" w="952142">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true">
              <a:gsLst>
                <a:gs pos="0">
                  <a:srgbClr val="65CED1">
                    <a:alpha val="100000"/>
                  </a:srgbClr>
                </a:gs>
                <a:gs pos="100000">
                  <a:srgbClr val="000000">
                    <a:alpha val="100000"/>
                  </a:srgbClr>
                </a:gs>
              </a:gsLst>
              <a:lin ang="2700000"/>
            </a:gradFill>
          </p:spPr>
        </p:sp>
        <p:sp>
          <p:nvSpPr>
            <p:cNvPr name="TextBox 10" id="10"/>
            <p:cNvSpPr txBox="true"/>
            <p:nvPr/>
          </p:nvSpPr>
          <p:spPr>
            <a:xfrm>
              <a:off x="0" y="-57150"/>
              <a:ext cx="952142" cy="126420"/>
            </a:xfrm>
            <a:prstGeom prst="rect">
              <a:avLst/>
            </a:prstGeom>
          </p:spPr>
          <p:txBody>
            <a:bodyPr anchor="ctr" rtlCol="false" tIns="50800" lIns="50800" bIns="50800" rIns="50800"/>
            <a:lstStyle/>
            <a:p>
              <a:pPr algn="ctr">
                <a:lnSpc>
                  <a:spcPts val="3447"/>
                </a:lnSpc>
              </a:pPr>
            </a:p>
          </p:txBody>
        </p:sp>
      </p:grpSp>
      <p:grpSp>
        <p:nvGrpSpPr>
          <p:cNvPr name="Group 11" id="11"/>
          <p:cNvGrpSpPr/>
          <p:nvPr/>
        </p:nvGrpSpPr>
        <p:grpSpPr>
          <a:xfrm rot="0">
            <a:off x="5193848" y="8121016"/>
            <a:ext cx="2669433" cy="194207"/>
            <a:chOff x="0" y="0"/>
            <a:chExt cx="952142" cy="69270"/>
          </a:xfrm>
        </p:grpSpPr>
        <p:sp>
          <p:nvSpPr>
            <p:cNvPr name="Freeform 12" id="12"/>
            <p:cNvSpPr/>
            <p:nvPr/>
          </p:nvSpPr>
          <p:spPr>
            <a:xfrm flipH="false" flipV="false" rot="0">
              <a:off x="0" y="0"/>
              <a:ext cx="952142" cy="69270"/>
            </a:xfrm>
            <a:custGeom>
              <a:avLst/>
              <a:gdLst/>
              <a:ahLst/>
              <a:cxnLst/>
              <a:rect r="r" b="b" t="t" l="l"/>
              <a:pathLst>
                <a:path h="69270" w="952142">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true">
              <a:gsLst>
                <a:gs pos="0">
                  <a:srgbClr val="65CED1">
                    <a:alpha val="100000"/>
                  </a:srgbClr>
                </a:gs>
                <a:gs pos="100000">
                  <a:srgbClr val="000000">
                    <a:alpha val="100000"/>
                  </a:srgbClr>
                </a:gs>
              </a:gsLst>
              <a:lin ang="2700000"/>
            </a:gradFill>
          </p:spPr>
        </p:sp>
        <p:sp>
          <p:nvSpPr>
            <p:cNvPr name="TextBox 13" id="13"/>
            <p:cNvSpPr txBox="true"/>
            <p:nvPr/>
          </p:nvSpPr>
          <p:spPr>
            <a:xfrm>
              <a:off x="0" y="-57150"/>
              <a:ext cx="952142" cy="126420"/>
            </a:xfrm>
            <a:prstGeom prst="rect">
              <a:avLst/>
            </a:prstGeom>
          </p:spPr>
          <p:txBody>
            <a:bodyPr anchor="ctr" rtlCol="false" tIns="50800" lIns="50800" bIns="50800" rIns="50800"/>
            <a:lstStyle/>
            <a:p>
              <a:pPr algn="ctr">
                <a:lnSpc>
                  <a:spcPts val="3447"/>
                </a:lnSpc>
              </a:pPr>
            </a:p>
          </p:txBody>
        </p:sp>
      </p:grpSp>
      <p:sp>
        <p:nvSpPr>
          <p:cNvPr name="TextBox 14" id="14"/>
          <p:cNvSpPr txBox="true"/>
          <p:nvPr/>
        </p:nvSpPr>
        <p:spPr>
          <a:xfrm rot="0">
            <a:off x="4757049" y="4665599"/>
            <a:ext cx="8773902" cy="993902"/>
          </a:xfrm>
          <a:prstGeom prst="rect">
            <a:avLst/>
          </a:prstGeom>
        </p:spPr>
        <p:txBody>
          <a:bodyPr anchor="t" rtlCol="false" tIns="0" lIns="0" bIns="0" rIns="0">
            <a:spAutoFit/>
          </a:bodyPr>
          <a:lstStyle/>
          <a:p>
            <a:pPr algn="ctr">
              <a:lnSpc>
                <a:spcPts val="7684"/>
              </a:lnSpc>
            </a:pPr>
            <a:r>
              <a:rPr lang="en-US" sz="6800">
                <a:solidFill>
                  <a:srgbClr val="FFFFFF"/>
                </a:solidFill>
                <a:latin typeface="Archivo Black"/>
                <a:ea typeface="Archivo Black"/>
                <a:cs typeface="Archivo Black"/>
                <a:sym typeface="Archivo Black"/>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DAG4yNBMYXE</dc:identifier>
  <dcterms:modified xsi:type="dcterms:W3CDTF">2011-08-01T06:04:30Z</dcterms:modified>
  <cp:revision>1</cp:revision>
  <dc:title>Dark Green White Gradient Technology Keynote Presentation</dc:title>
</cp:coreProperties>
</file>